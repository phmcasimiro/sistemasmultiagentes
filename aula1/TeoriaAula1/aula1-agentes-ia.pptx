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ai.github.io/openai-agents-python/agent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ai.github.io/openai-agents-python/tool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ai.github.io/openai-agents-python/handoff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ai.github.io/openai-agents-python/agents/#output-type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ai.github.io/openai-agents-python/session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ai.github.io/openai-agents-python/guardrail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ai.github.io/openai-agents-python/streaming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ai.github.io/openai-agents-python/multi_agent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ai.github.io/openai-agents-python/tracing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hyperlink" Target="https://fastapi.tiangolo.com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574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9087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de IA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4069080"/>
            <a:ext cx="90799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Multiagentes com IA · Aula 1 · SDK openai-agents. Setas ← → (ou Espaço). Tecla F: tela cheia.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COMEÇAR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CONDUZ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Francisco Molina Jr. — +20 anos em desenvolvimento de software e ciência de dados (PHP/Laravel, Python, Java).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0908792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Assessor na Enap — roadmap dos produtos digitais educacionais da Escola Virtual de Governo (EV.G)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no UniCEUB — Desenvolvimento de Sistemas, Estrutura de Dados, Python, Banco de Dados, Sistemas Operacionais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em Data Science e IA Aplicada — Enap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Ministrou o curso IA para Devs — TRF1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LinkedIn: linkedin.com/in/francisco-molina-jr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COMEÇAR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EXPERIÊNCIA PRÁTICA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em produção, com 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Esporte: Central da Natação · Circuito de Natação Infantil · Big Ball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 e bem-estar: LC Saúde Integrativa · Mais Luz Aroma · SkinFlow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Consultoria e capital: Lidere Capital Estratégico · Radar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4617720"/>
          </a:xfrm>
          <a:prstGeom prst="roundRect">
            <a:avLst>
              <a:gd name="adj" fmla="val 1584"/>
            </a:avLst>
          </a:prstGeom>
          <a:solidFill>
            <a:srgbClr val="0F1B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9384"/>
            <a:ext cx="10451592" cy="4325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centraldanatacao.com.br              circuitodenatacaoinfantil.com.br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bigball.com.br                       financeiro.skinflow.com.br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lcsaudeintegrativa.com.br            maisluzaroma.com.br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liderecapitalestrategico.com.br      radar.liderecapitalestrategico.com.br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COMEÇAR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CURSO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Ementa — Sistemas Multiagentes com 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50h · 10 encontros remotos síncronos de 5h · MBA em BI &amp; Data Science (Ibmec) · ênfase em segurança pública.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0908792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Fundamentos de agentes — ambiente, estado, memória, autonomia; agente × chatbot; 1º agente de extração de ocorrências (hoje — em 2 dias)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Comunicação agente-a-agente (A2A) — Request/Response, Pub/Sub, MQTT, gRPC, FIPA-ACL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Model Context Protocol (MCP) e integração — tool calling, APIs, bancos, controle de acesso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Engenharia de agent loops — ReAct, critérios de parada, retries, autonomia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Padrões de orquestração — Supervisor, Broker, Blackboard, Pipeline, Debate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Sistemas baseados em grafos — DAGs, estados compartilhados, LangGraph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Agentes especializados e Human-in-the-Loop — papéis (Investigador, Jurídico, Analista), breakpoints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Arquitetura distribuída e deploy — Docker, Kubernetes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· Auto-scaling, observabilidade e segurança — tracing, prompt injection, excessive agency, guardrails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Projeto integrador — sistema multiagente fim a fim para um cenário de segurança pública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COMEÇAR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CURSO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e formato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da disciplina: o projeto integrador — um sistema multiagente fim a fim aplicado a um cenário de segurança pública, com desenvolvimento assistido e apresentação na Aula 10.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de cada aula: exposição dialogada + ~70% de laboratório hands-on em Python.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Nesta turma: exemplos com o SDK openai-agents — backend OpenAI ou Ollama local (sem custo, nada sai da máquina).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Exercícios: cada seção tem um desafio — o slide mostra só o enunciado; a solução é revelada depois de vocês tentarem.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COMEÇAR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montar a pasta do zero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passos. Ao final, qualquer exemplo da aula roda com um só comando.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0908792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criar a pasta aula1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— criar o arquivo .env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— criar o arquivo requirements.txt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— entrar na pasta e configurar a venv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— implementar o provedor.py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1 — A PASTA DO PROJETO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a pasta aula1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da aula vive numa pasta só. Escolha um lugar simples de achar depois.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10908792" cy="3886200"/>
          </a:xfrm>
          <a:prstGeom prst="roundRect">
            <a:avLst>
              <a:gd name="adj" fmla="val 1882"/>
            </a:avLst>
          </a:prstGeom>
          <a:solidFill>
            <a:srgbClr val="0F1B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60904"/>
            <a:ext cx="10451592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aula1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aula1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caminho de exemplo: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Windows:      C:\curso-ia\aula1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Linux/macOS:  ~/curso-ia/aula1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2 — CRIAR .ENV  ·  COPIE E COLE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 .env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o que muda por máquina — backend, modelo e chave — fora do código. Nunca vai para o Git.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10908792" cy="3886200"/>
          </a:xfrm>
          <a:prstGeom prst="roundRect">
            <a:avLst>
              <a:gd name="adj" fmla="val 1882"/>
            </a:avLst>
          </a:prstGeom>
          <a:solidFill>
            <a:srgbClr val="0F1B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60904"/>
            <a:ext cx="10451592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crie um arquivo chamado  .env  dentro de aula1/  e cole: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backend: "openai" (padrão) ou "ollama"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PROVEDOR=openai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modelo usado por TODOS os exemplos (nenhum passa model= no código)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OPENAI_DEFAULT_MODEL=gpt-4o-mini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necessária só quando PROVEDOR=openai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OPENAI_API_KEY=coloque_sua_chave_aqui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usada só quando PROVEDOR=ollama (este já é o valor padrão)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OLLAMA_BASE_URL=http://localhost:11434/v1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2 · ALTERNATIVA — OLLAMA LOCAL (SEM CHAVE, SEM CUSTO)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e a variável PATH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 o modelo na sua máquina. Depois de instalar, o comando ollama só é reconhecido se ele estiver no PATH.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10908792" cy="3886200"/>
          </a:xfrm>
          <a:prstGeom prst="roundRect">
            <a:avLst>
              <a:gd name="adj" fmla="val 1882"/>
            </a:avLst>
          </a:prstGeom>
          <a:solidFill>
            <a:srgbClr val="0F1B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60904"/>
            <a:ext cx="10451592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instalar — escolha UMA opção: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a) baixar o instalador em  https://ollama.com/download  (Windows / macOS / Linux)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b) linha de comando: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Windows:  winget install --id Ollama.Ollama -e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Linux:    curl -fsSL https://ollama.com/install.sh | sh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PATH  —  fazer o comando  ollama  ser reconhecido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 instalador ADICIONA o Ollama ao PATH, mas terminais já abertos não veem.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Windows (definitivo):  feche TODOS os terminais / o VS Code e reabra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Windows (só nesta sessão):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$env:Path += ";$env:LOCALAPPDATA\Programs\Ollama"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conferir o PATH permanente do usuário: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[Environment]::GetEnvironmentVariable("Path", "User")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Linux/macOS:  reabra o shell (o binário fica em /usr/local/bin, já no PATH)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conferir e baixar o modelo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--version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llama3.1              # ~4.9 GB — baixar em casa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run llama3.1 "diga ola"    # teste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no .env:  PROVEDOR=ollama   |   OPENAI_DEFAULT_MODEL=llama3.1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3 — CRIAR REQUIREMENTS.TXT  ·  COPIE E COLE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 requirements.txt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lista de bibliotecas da aula. O comando  pip install -r  lê daqui.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10908792" cy="3886200"/>
          </a:xfrm>
          <a:prstGeom prst="roundRect">
            <a:avLst>
              <a:gd name="adj" fmla="val 1882"/>
            </a:avLst>
          </a:prstGeom>
          <a:solidFill>
            <a:srgbClr val="0F1B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60904"/>
            <a:ext cx="10451592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crie um arquivo  requirements.txt  dentro de aula1/  e cole: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openai-agents&gt;=0.22.0,&lt;0.23.0    # o SDK de agentes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python-dotenv&gt;=1.0.1             # lê o arquivo .env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pydantic&gt;=2.7                    # modelos de saída (seção 4)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requests&gt;=2.31                   # chamadas HTTP das ferramentas (seção 2 em diante)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4 — AMBIENTE VIRTUAL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na pasta e criar a venv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venv é uma caixa isolada: as bibliotecas ficam só nesta pasta, sem conflitar com o resto do sistema. Ative-a em cada terminal novo.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10908792" cy="3886200"/>
          </a:xfrm>
          <a:prstGeom prst="roundRect">
            <a:avLst>
              <a:gd name="adj" fmla="val 1882"/>
            </a:avLst>
          </a:prstGeom>
          <a:solidFill>
            <a:srgbClr val="0F1B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60904"/>
            <a:ext cx="10451592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aula1                          # se ainda não estiver nela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             # cria a caixa isolada (precisa de Python 3.10+)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ativar a venv: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Windows PowerShell:   .venv\Scripts\Activate.ps1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Windows cmd:          .venv\Scripts\activate.bat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Linux / macOS:        source .venv/bin/activate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  # instala tudo do requirements.txt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show openai-agents           # confere:  Version: 0.22.x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Windows, erro "execução de scripts desabilitada":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Set-ExecutionPolicy -Scope CurrentUser RemoteSigned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5 — A CHAVE DE TROCA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o provedor.py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 o SDK ao backend escolhido no .env. Todo exemplo começa com  from provedor import configurar; configurar()  — e trocar OpenAI ↔ Ollama passa a ser só editar o .env.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10908792" cy="3886200"/>
          </a:xfrm>
          <a:prstGeom prst="roundRect">
            <a:avLst>
              <a:gd name="adj" fmla="val 1882"/>
            </a:avLst>
          </a:prstGeom>
          <a:solidFill>
            <a:srgbClr val="0F1B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60904"/>
            <a:ext cx="10451592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crie o arquivo  provedor.py  dentro de aula1/ :</a:t>
            </a: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dotenv import load_dotenv</a:t>
            </a: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AsyncOpenAI</a:t>
            </a: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import (</a:t>
            </a: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set_default_openai_api, set_default_openai_client,</a:t>
            </a: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set_default_openai_key, set_tracing_disabled,</a:t>
            </a: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   # carrega o .env para as variáveis de ambiente</a:t>
            </a: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configurar() -&gt; str:</a:t>
            </a: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"""Aplica o provedor escolhido no .env. Devolve o nome dele."""</a:t>
            </a: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provedor = os.getenv("PROVEDOR", "openai").strip().lower()</a:t>
            </a: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provedor == "ollama":</a:t>
            </a: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base_url = os.getenv("OLLAMA_BASE_URL", "http://localhost:11434/v1")</a:t>
            </a: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o Ollama exige api_key no construtor, mas ignora o valor</a:t>
            </a: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cliente = AsyncOpenAI(base_url=base_url, api_key="ollama")</a:t>
            </a: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set_default_openai_client(cliente)          # manda tudo para o Ollama</a:t>
            </a: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set_default_openai_api("chat_completions")  # Ollama não tem a Responses API</a:t>
            </a: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set_tracing_disabled(True)                  # não envia traces p/ a OpenAI</a:t>
            </a: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set_default_openai_key(os.getenv("OPENAI_API_KEY"))</a:t>
            </a: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provedor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FUNCIONA · ALÉM DO OLLAMA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Outros modelos encaixam no mesmo cliente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formato chat/completions virou padrão de fato. Trocar de backend costuma ser só trocar base_url + api_key no provedor.py.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1090879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Locais (como o Ollama): LM Studio · llama.cpp · vLLM · LocalAI · TGI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Nuvem, OpenAI-compat: Groq · Together · Fireworks · OpenRouter · DeepSeek · Mistral · Grok · Perplexity · Cerebras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 é um agregador: roteia até para Claude e Gemini em formato OpenAI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908792" cy="3886200"/>
          </a:xfrm>
          <a:prstGeom prst="roundRect">
            <a:avLst>
              <a:gd name="adj" fmla="val 1882"/>
            </a:avLst>
          </a:prstGeom>
          <a:solidFill>
            <a:srgbClr val="0F1B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60904"/>
            <a:ext cx="10451592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provedor.py, um ramo como o do Ollama: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 = AsyncOpenAI(base_url="https://api.groq.com/openai/v1",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api_key=os.getenv("GROQ_API_KEY"))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FUNCIONA · QUANDO PRECISA DE AJUSTE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encaixa direto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pequeno — Azure OpenAI (cliente AsyncAzureOpenAI, api_version, nome do deployment) · Gemini (endpoint .../v1beta/openai/)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diferente — Claude nativo, AWS Bedrock, Vertex AI → precisa de um tradutor (LiteLLM; o SDK traz LitellmModel, ~100 provedores como se fossem OpenAI)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'compatível' — function calling e output_type variam por modelo; a Responses API só a OpenAI e a Azure têm (por isso o provedor.py força chat_completions)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— O QUE É UM AGENTE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agente é um funcionário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— O QUE É UM AGENTE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um chatbot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pode decidir agir — chamar ferramentas, consultar sistemas, passar o caso para outro setor — e repetir isso em ciclo até ter a resposta. Não é só "gerar texto".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— O QUE É UM AGENTE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DA AULA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seção adiciona uma capacidade ao mesmo funcionário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responder — funcionário com manual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usar ferramentas — dar a ele um sistema para consultar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encaminhar (handoff) — mesa de triagem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saída em formato fixo — preencher um formulário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memória (sessão) — o prontuário do atendimento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guardrails — detector de metais na entrada e revisão na saída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streaming — ver o funcionário digitando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tudo junto — o atendimento completo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· limites e produção — o que separa a demo do sistema real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F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primeiro agente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08792" cy="594360"/>
          </a:xfrm>
          <a:prstGeom prst="roundRect">
            <a:avLst>
              <a:gd name="adj" fmla="val 9231"/>
            </a:avLst>
          </a:prstGeom>
          <a:solidFill>
            <a:srgbClr val="12332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</a:t>
            </a:r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funcionário com um manual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DE APLICAÇÃO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566928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de onboarding: recebe o novo servidor, explica os primeiros passos (SEI, e-mail institucional, crachá) sempre no mesmo roteiro e no mesmo tom.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 de RH: férias, licenças, progressão — responde citando a norma, sem improviso.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ao cidadão: como tirar atestado de antecedentes, onde agendar — responde só o que está no script, sem inventar.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29400" y="2514600"/>
            <a:ext cx="4919472" cy="3840480"/>
          </a:xfrm>
          <a:prstGeom prst="roundRect">
            <a:avLst>
              <a:gd name="adj" fmla="val 1905"/>
            </a:avLst>
          </a:prstGeom>
          <a:solidFill>
            <a:srgbClr val="121F35"/>
          </a:solidFill>
          <a:ln w="12700">
            <a:solidFill>
              <a:srgbClr val="233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697480"/>
            <a:ext cx="4462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3017520"/>
            <a:ext cx="44622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a peça básica do SDK: um modelo de linguagem + um conjunto de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 "system prompt", que manda mais que o pedido do usuário) + um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de fato executa o ciclo. Sozinho ele não faz nada — é só a definição.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5852160"/>
            <a:ext cx="44622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docs — Agents  </a:t>
            </a:r>
            <a:pPr indent="0" marL="0">
              <a:buNone/>
            </a:pPr>
            <a:r>
              <a:rPr lang="en-US" sz="1000" u="sng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https://openai.github.io/openai-agents-python/agents/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· O PRIMEIRO AGENTE POSSÍVEL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· O PRIMEIRO AGENTE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primeiro agente possível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= LLM + instructions. É só uma definição; quem executa é o Runner. run_sync devolve um objeto rico (RunResult), não uma string.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08792" cy="4023360"/>
          </a:xfrm>
          <a:prstGeom prst="roundRect">
            <a:avLst>
              <a:gd name="adj" fmla="val 1818"/>
            </a:avLst>
          </a:prstGeom>
          <a:solidFill>
            <a:srgbClr val="0F1B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23744"/>
            <a:ext cx="10451592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import Agent, Runner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provedor import configurar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configurar()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name="Meu Primeiro Agente",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instructions=...,          # ← a "persona": o que ele SEMPRE responde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Runner.run_sync(agent, "O que vc faz?")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print(resultado)              # o objeto RunResult inteiro — o que tem aqui dentro?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print(resultado.____)         # ← só a resposta em texto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· DOIS HÁBITOS PARA A AULA TODA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· O PRIMEIRO AGENTE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hábitos para a aula toda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08792" cy="3108960"/>
          </a:xfrm>
          <a:prstGeom prst="roundRect">
            <a:avLst>
              <a:gd name="adj" fmla="val 2353"/>
            </a:avLst>
          </a:prstGeom>
          <a:solidFill>
            <a:srgbClr val="3A2E12"/>
          </a:solidFill>
          <a:ln w="12700">
            <a:solidFill>
              <a:srgbClr val="6B4E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03601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Reescreva o 1.1 com dois hábitos que vão se repetir a aula toda: (1) usar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resultado.final_output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só o texto, não o objeto; (2) pôr a execução dentro de uma função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Dê ao agente instruções abertas (um assistente de verdade) e observe que a resposta passa a depender da pergunta.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Solução revelada em aula com a senha da turma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· OLLAMA · O MESMO AGENTE, 100% LOCAL (OLLAMA)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· OLLAMA · O PRIMEIRO AGENTE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agente, 100% local (Ollama)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Idêntico ao 1.1, mas rodando no Ollama — sem custo, nada sai da máquina. Só muda model="llama3.1" e PROVEDOR=ollama no .env.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08792" cy="4023360"/>
          </a:xfrm>
          <a:prstGeom prst="roundRect">
            <a:avLst>
              <a:gd name="adj" fmla="val 1818"/>
            </a:avLst>
          </a:prstGeom>
          <a:solidFill>
            <a:srgbClr val="0F1B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23744"/>
            <a:ext cx="10451592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os.environ["PROVEDOR"] = ____             # ← forçar o backend local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os.environ.setdefault("OPENAI_DEFAULT_MODEL", "llama3.1")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import Agent, Runner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provedor import configurar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configurar()                              # o provedor.py aponta para localhost:11434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name="Meu Primeiro Agente Ollama",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instructions="Você é um agente de teste. Responda com 'Olá, mundo!'",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model=____,                            # ← modelo servido pelo Ollama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Runner.run_sync(agent, "O que vc faz?")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print("Agente:", r.last_agent.name)       # a resposta obedece a instrução?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F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(tools)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08792" cy="594360"/>
          </a:xfrm>
          <a:prstGeom prst="roundRect">
            <a:avLst>
              <a:gd name="adj" fmla="val 9231"/>
            </a:avLst>
          </a:prstGeom>
          <a:solidFill>
            <a:srgbClr val="12332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ferramentas</a:t>
            </a:r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dar a ele um sistema/telefone para consultar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DE APLICAÇÃO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566928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com banco de dados: uma tool consulta a base institucional e o agente responde ‘seu chefe imediato é X, seu setor é Y, você tem os treinamentos Z pendentes’.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a sistema interno: tool no SEI / protocolo que devolve o andamento de um processo pelo número.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Enriquecimento de dados: dado um CNPJ, CPF ou placa, a tool bate em bases cadastrais e o agente monta um resumo.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e validação: tool que valida um documento, calcula prazo processual ou converte datas — o modelo não faz conta, a função faz.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29400" y="2514600"/>
            <a:ext cx="4919472" cy="3840480"/>
          </a:xfrm>
          <a:prstGeom prst="roundRect">
            <a:avLst>
              <a:gd name="adj" fmla="val 1905"/>
            </a:avLst>
          </a:prstGeom>
          <a:solidFill>
            <a:srgbClr val="121F35"/>
          </a:solidFill>
          <a:ln w="12700">
            <a:solidFill>
              <a:srgbClr val="233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697480"/>
            <a:ext cx="4462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3017520"/>
            <a:ext cx="44622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(function calling) são funções Python comuns que o próprio modelo decide chamar durante a execução, para consultar um sistema, calcular algo ou buscar um dado que ele não sabe de cabeça. O decorator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@function_tool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gera o schema a partir da assinatura e da docstring da função.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5852160"/>
            <a:ext cx="44622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docs — Tools  </a:t>
            </a:r>
            <a:pPr indent="0" marL="0">
              <a:buNone/>
            </a:pPr>
            <a:r>
              <a:rPr lang="en-US" sz="1000" u="sng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https://openai.github.io/openai-agents-python/tools/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· A PRIMEIRA FERRAMENTA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· FERRAMENTAS (TOOLS)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primeira ferramenta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@function_tool transforma uma função Python em ferramenta. O schema vem da assinatura + docstring — por isso a docstring não é enfeite, o modelo a lê para decidir quando e como usar.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08792" cy="4023360"/>
          </a:xfrm>
          <a:prstGeom prst="roundRect">
            <a:avLst>
              <a:gd name="adj" fmla="val 1818"/>
            </a:avLst>
          </a:prstGeom>
          <a:solidFill>
            <a:srgbClr val="0F1B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23744"/>
            <a:ext cx="10451592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import Agent, Runner, function_tool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@________                            # ← o que transforma isto numa ferramenta?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consultar_clima(cidade: str) -&gt; str: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"""Retorna o clima atual de uma cidade.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Args: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cidade: nome da cidade a consultar.   # ← a docstring é LIDA pelo modelo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dados = {"São Paulo": "22°C, nublado", "Brasília": "28°C, sol"}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dados.get(cidade, "Cidade não encontrada.")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 = Agent(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name="Assistente de Clima",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instructions="Use a ferramenta quando perguntarem sobre o tempo.",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________=[consultar_clima],       # ← como o agente recebe a ferramenta?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· FERRAMENTA COM API REAL (OPEN-METEO)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· FERRAMENTAS (TOOLS)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 com API real (Open-Meteo)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08792" cy="3108960"/>
          </a:xfrm>
          <a:prstGeom prst="roundRect">
            <a:avLst>
              <a:gd name="adj" fmla="val 2353"/>
            </a:avLst>
          </a:prstGeom>
          <a:solidFill>
            <a:srgbClr val="3A2E12"/>
          </a:solidFill>
          <a:ln w="12700">
            <a:solidFill>
              <a:srgbClr val="6B4E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03601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Refaça o agente de clima do 2.1, mas com uma API real e gratuita (Open-Meteo). A ferramenta deve: (1) transformar o nome da cidade em coordenadas (endpoint de </a:t>
            </a:r>
            <a:pPr indent="0" marL="0">
              <a:lnSpc>
                <a:spcPct val="135000"/>
              </a:lnSpc>
              <a:buNone/>
            </a:pPr>
            <a:r>
              <a:rPr lang="en-US" sz="17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geocoding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 (2) usar as coordenadas para pegar a temperatura atual (endpoint de </a:t>
            </a:r>
            <a:pPr indent="0" marL="0">
              <a:lnSpc>
                <a:spcPct val="135000"/>
              </a:lnSpc>
              <a:buNone/>
            </a:pPr>
            <a:r>
              <a:rPr lang="en-US" sz="17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Se a cidade não existir,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 ValueError(...)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 SDK entrega o erro ao modelo.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Solução revelada em aula com a senha da turma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· DESAFIO · CÂMBIO: FERRAMENTA COM 2 ARGUMENTOS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· FERRAMENTAS (TOOLS)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· câmbio: ferramenta com 2 argumentos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08792" cy="3108960"/>
          </a:xfrm>
          <a:prstGeom prst="roundRect">
            <a:avLst>
              <a:gd name="adj" fmla="val 2353"/>
            </a:avLst>
          </a:prstGeom>
          <a:solidFill>
            <a:srgbClr val="3A2E12"/>
          </a:solidFill>
          <a:ln w="12700">
            <a:solidFill>
              <a:srgbClr val="6B4E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03601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Crie uma ferramenta que consulte a cotação entre duas moedas na Frankfurter (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https://api.frankfurter.app/latest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dados do BCE, sem cadastro). A ferramenta recebe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argumentos (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moeda_origem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moeda_destino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e o modelo extrai os dois da frase (“dólar em reais” → USD, BRL). Monte um “Assistente Financeiro” e teste com “Quanto está o dólar hoje?”.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Solução revelada em aula com a senha da turma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· DESAFIO · CEP: RETORNO EM TEXTO ESTRUTURADO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· FERRAMENTAS (TOOLS)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· CEP: retorno em texto estruturado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08792" cy="3108960"/>
          </a:xfrm>
          <a:prstGeom prst="roundRect">
            <a:avLst>
              <a:gd name="adj" fmla="val 2353"/>
            </a:avLst>
          </a:prstGeom>
          <a:solidFill>
            <a:srgbClr val="3A2E12"/>
          </a:solidFill>
          <a:ln w="12700">
            <a:solidFill>
              <a:srgbClr val="6B4E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03601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 um CEP, consulte o endereço na ViaCEP (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https://viacep.com.br/ws/{cep}/json/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Limpe o CEP (com ou sem hífen/ponto). Pegadinha: CEP inexistente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dá erro HTTP — vem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{"erro": "true"}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Retorne logradouro, bairro, cidade e UF num texto; o modelo reescreve de forma natural.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Solução revelada em aula com a senha da turma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· DESAFIO · CNPJ + A 1ª CONVERSA SÉRIA DE LGPD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· FERRAMENTAS (TOOLS)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· CNPJ + a 1ª conversa séria de LGPD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08792" cy="3108960"/>
          </a:xfrm>
          <a:prstGeom prst="roundRect">
            <a:avLst>
              <a:gd name="adj" fmla="val 2353"/>
            </a:avLst>
          </a:prstGeom>
          <a:solidFill>
            <a:srgbClr val="3A2E12"/>
          </a:solidFill>
          <a:ln w="12700">
            <a:solidFill>
              <a:srgbClr val="6B4E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03601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 um CNPJ na BrasilAPI (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https://brasilapi.com.br/api/cnpj/v1/{cnpj}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dados públicos da Receita). Retorne razão social, situação cadastral, atividade, endereço e o quadro de sócios (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qsa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Repare: os CPFs dos sócios já vêm mascarados pela fonte — a minimização acontece na origem.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Solução revelada em aula com a senha da turma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F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(transferência entre agentes)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08792" cy="594360"/>
          </a:xfrm>
          <a:prstGeom prst="roundRect">
            <a:avLst>
              <a:gd name="adj" fmla="val 9231"/>
            </a:avLst>
          </a:prstGeom>
          <a:solidFill>
            <a:srgbClr val="12332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encaminhar</a:t>
            </a:r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mesa de triagem que manda para o setor certo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DE APLICAÇÃO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566928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atendimento ao cidadão: um triador separa denúncia, pedido de informação, reclamação e agendamento — cada um um agente especialista.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de apoio à investigação: roteia entre especialista cadastral, de georreferenciamento e de telefonia, conforme a solicitação.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de TI interno: separa ‘acesso e senha’, ‘equipamento’ e ‘sistema X’ e encaminha para a fila certa — sem if/else escrito por você.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29400" y="2514600"/>
            <a:ext cx="4919472" cy="3840480"/>
          </a:xfrm>
          <a:prstGeom prst="roundRect">
            <a:avLst>
              <a:gd name="adj" fmla="val 1905"/>
            </a:avLst>
          </a:prstGeom>
          <a:solidFill>
            <a:srgbClr val="121F35"/>
          </a:solidFill>
          <a:ln w="12700">
            <a:solidFill>
              <a:srgbClr val="233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697480"/>
            <a:ext cx="4462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3017520"/>
            <a:ext cx="44622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a transferência de uma conversa de um agente para outro: por baixo dos panos, cada agente disponível vira uma ferramenta (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transfer_to_&lt;nome&gt;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que o agente de origem pode chamar. É o padrão para triagem.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5852160"/>
            <a:ext cx="44622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docs — Handoffs  </a:t>
            </a:r>
            <a:pPr indent="0" marL="0">
              <a:buNone/>
            </a:pPr>
            <a:r>
              <a:rPr lang="en-US" sz="1000" u="sng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https://openai.github.io/openai-agents-python/handoffs/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· TRIADOR + ESPECIALISTAS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· HANDOFF (TRANSFERÊNCIA ENTRE AGENTES)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Triador + especialistas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triador tem handoffs=[...] em vez de tools=[...]. Cada agente vira uma ferramenta transfer_to_&lt;name&gt;. A decisão é só linguagem natural — nenhum if/else de roteamento. resultado.last_agent diz quem respondeu.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08792" cy="4023360"/>
          </a:xfrm>
          <a:prstGeom prst="roundRect">
            <a:avLst>
              <a:gd name="adj" fmla="val 1818"/>
            </a:avLst>
          </a:prstGeom>
          <a:solidFill>
            <a:srgbClr val="0F1B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23744"/>
            <a:ext cx="10451592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agente_matematica = Agent(name="Especialista_Matematica",   # ← por que sem acento?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instructions="Resolve matemática, com passo a passo.")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agente_historia = Agent(name="Especialista_Historia",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instructions="Responde história de forma clara.")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triador = Agent(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name="Triador",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instructions="Encaminhe para o especialista certo. Não responda você mesmo.",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________=[agente_matematica, agente_historia],   # ← tools ou handoffs?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Runner.run_sync(triador, "Quem foi Pitágoras?")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print(r.____.name)                                   # ← quem realmente respondeu?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· OBSERVAR E CUSTOMIZAR A TRANSFERÊNCIA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· HANDOFF (TRANSFERÊNCIA ENTRE AGENTES)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Observar e customizar a transferência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08792" cy="3108960"/>
          </a:xfrm>
          <a:prstGeom prst="roundRect">
            <a:avLst>
              <a:gd name="adj" fmla="val 2353"/>
            </a:avLst>
          </a:prstGeom>
          <a:solidFill>
            <a:srgbClr val="3A2E12"/>
          </a:solidFill>
          <a:ln w="12700">
            <a:solidFill>
              <a:srgbClr val="6B4E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03601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do 3.1, use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handoff(agente, on_handoff=callback)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lugar do agente puro. O </a:t>
            </a:r>
            <a:pPr indent="0" marL="0">
              <a:lnSpc>
                <a:spcPct val="135000"/>
              </a:lnSpc>
              <a:buNone/>
            </a:pPr>
            <a:r>
              <a:rPr lang="en-US" sz="17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deve registrar um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[LOG]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momento da transferência (auditoria). Faça o triador responder sozinho o que for trivial (“Bom dia!”) e só encaminhar as dúvidas de matemática/história.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Solução revelada em aula com a senha da turma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· DESAFIO · CENTRAL DE ATENDIMENTO (HANDOFF + TOOLS)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· HANDOFF (TRANSFERÊNCIA ENTRE AGENTES)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· Central de Atendimento (handoff + tools)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08792" cy="3108960"/>
          </a:xfrm>
          <a:prstGeom prst="roundRect">
            <a:avLst>
              <a:gd name="adj" fmla="val 2353"/>
            </a:avLst>
          </a:prstGeom>
          <a:solidFill>
            <a:srgbClr val="3A2E12"/>
          </a:solidFill>
          <a:ln w="12700">
            <a:solidFill>
              <a:srgbClr val="6B4E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03601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Atendimento ao Cidadão: dois especialistas, cada um com sua ferramenta de API real — clima (Open-Meteo) e endereços (ViaCEP) — e um triador que só roteia. São duas decisões independentes do modelo. Teste com duas perguntas de assuntos diferentes e imprima quem respondeu.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Solução revelada em aula com a senha da turma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· DESAFIO · APOIO À INVESTIGAÇÃO (NOMINATIM)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· HANDOFF (TRANSFERÊNCIA ENTRE AGENTES)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· Apoio à Investigação (Nominatim)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08792" cy="3108960"/>
          </a:xfrm>
          <a:prstGeom prst="roundRect">
            <a:avLst>
              <a:gd name="adj" fmla="val 2353"/>
            </a:avLst>
          </a:prstGeom>
          <a:solidFill>
            <a:srgbClr val="3A2E12"/>
          </a:solidFill>
          <a:ln w="12700">
            <a:solidFill>
              <a:srgbClr val="6B4E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03601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Apoio à Investigação: um especialista cadastral (CNPJ/BrasilAPI) e um de localização (georreferenciamento via Nominatim, que converte endereço em coordenadas). Atenção: o Nominatim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um header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User-Agent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identificando a aplicação — sem ele a requisição é bloqueada.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Solução revelada em aula com a senha da turma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· DESAFIO · O CUSTO DE UM 3º ESPECIALISTA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· HANDOFF (TRANSFERÊNCIA ENTRE AGENTES)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· o custo de um 3º especialista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08792" cy="3108960"/>
          </a:xfrm>
          <a:prstGeom prst="roundRect">
            <a:avLst>
              <a:gd name="adj" fmla="val 2353"/>
            </a:avLst>
          </a:prstGeom>
          <a:solidFill>
            <a:srgbClr val="3A2E12"/>
          </a:solidFill>
          <a:ln w="12700">
            <a:solidFill>
              <a:srgbClr val="6B4E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03601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Partindo do 3.4, adicione um terceiro especialista, de telefonia, com uma ferramenta de DDD (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https://brasilapi.com.br/api/ddd/v1/{ddd}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que retorne estado e municípios. São 3 passos: (1) a ferramenta, (2) o agente especialista, (3) uma linha em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handoffs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uma frase nas instruções do triador. Nenhum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if/else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Solução revelada em aula com a senha da turma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F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 estruturada (output_type)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08792" cy="594360"/>
          </a:xfrm>
          <a:prstGeom prst="roundRect">
            <a:avLst>
              <a:gd name="adj" fmla="val 9231"/>
            </a:avLst>
          </a:prstGeom>
          <a:solidFill>
            <a:srgbClr val="12332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 em formato fixo</a:t>
            </a:r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preencher um formulário, não escrever uma redação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DE APLICAÇÃO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566928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ocorrência: de um relato livre para um objeto {tipo, data, local, envolvidos[], resumo} pronto para gravar no sistema.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Triagem de ouvidoria: cada manifestação vira {categoria, prioridade, urgente} e alimenta o painel automaticamente.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de ofício ou e-mail: extrai {remetente, assunto, prazo, ação requerida} para uma fila de tarefas.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de qualificação: de uma entrevista transcrita para campos fixos, revisados por um servidor antes de valer.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29400" y="2514600"/>
            <a:ext cx="4919472" cy="3840480"/>
          </a:xfrm>
          <a:prstGeom prst="roundRect">
            <a:avLst>
              <a:gd name="adj" fmla="val 1905"/>
            </a:avLst>
          </a:prstGeom>
          <a:solidFill>
            <a:srgbClr val="121F35"/>
          </a:solidFill>
          <a:ln w="12700">
            <a:solidFill>
              <a:srgbClr val="233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697480"/>
            <a:ext cx="4462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3017520"/>
            <a:ext cx="44622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 estruturada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output_type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obriga o modelo a devolver dados num formato fixo, validado por um modelo Pydantic, em vez de texto livre — um contrato que o resto do sistema pode consumir sem parsing frágil de string.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5852160"/>
            <a:ext cx="44622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docs — Output types  </a:t>
            </a:r>
            <a:pPr indent="0" marL="0">
              <a:buNone/>
            </a:pPr>
            <a:r>
              <a:rPr lang="en-US" sz="1000" u="sng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https://openai.github.io/openai-agents-python/agents/#output-types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· OUTPUT_TYPE COM PYDANTIC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· SAÍDA ESTRUTURADA (OUTPUT_TYPE)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output_type com Pydantic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 um modelo Pydantic e o SDK obriga o modelo a devolver exatamente aquele formato, já convertido em objeto Python. final_output deixa de ser str.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08792" cy="4023360"/>
          </a:xfrm>
          <a:prstGeom prst="roundRect">
            <a:avLst>
              <a:gd name="adj" fmla="val 1818"/>
            </a:avLst>
          </a:prstGeom>
          <a:solidFill>
            <a:srgbClr val="0F1B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23744"/>
            <a:ext cx="10451592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Evento(BaseModel):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nome: str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data: str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local: str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participantes: ____          # ← que tipo? volta como "12" ou como 12?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 = Agent(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name="Extrator de Eventos",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instructions="Extraia as informações do evento a partir do texto.",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____=Evento,                 # ← o que força a saída nesse formato?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evento = Runner.run_sync(agente, texto).final_output   # NÃO é mais str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· DESAFIO · OCORRÊNCIA: MODELOS ANINHADOS + LISTA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· SAÍDA ESTRUTURADA (OUTPUT_TYPE)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· Ocorrência: modelos aninhados + lista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08792" cy="3108960"/>
          </a:xfrm>
          <a:prstGeom prst="roundRect">
            <a:avLst>
              <a:gd name="adj" fmla="val 2353"/>
            </a:avLst>
          </a:prstGeom>
          <a:solidFill>
            <a:srgbClr val="3A2E12"/>
          </a:solidFill>
          <a:ln w="12700">
            <a:solidFill>
              <a:srgbClr val="6B4E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03601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um relato livre, gere um objeto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Ocorrencia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tipo, data, local, resumo e uma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envolvidos, onde cada envolvido é ele mesmo um modelo (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Envolvido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nome e papel). O modelo define o papel de cada pessoa (vítima / suspeito / testemunha). Percorra a lista no final.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Solução revelada em aula com a senha da turma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· DESAFIO · TRIAGEM: LITERAL (VALORES FECHADOS) + BOOL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· SAÍDA ESTRUTURADA (OUTPUT_TYPE)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· Triagem: Literal (valores fechados) + bool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08792" cy="3108960"/>
          </a:xfrm>
          <a:prstGeom prst="roundRect">
            <a:avLst>
              <a:gd name="adj" fmla="val 2353"/>
            </a:avLst>
          </a:prstGeom>
          <a:solidFill>
            <a:srgbClr val="3A2E12"/>
          </a:solidFill>
          <a:ln w="12700">
            <a:solidFill>
              <a:srgbClr val="6B4E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03601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Triagem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uma ouvidoria: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prioridade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só aceitam valores de uma lista fechada (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Literal[...]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mais um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urgente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um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resumo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 SDK rejeita qualquer valor fora da lista. Mostre que o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volta como bool de verdade (dá para usar em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t.urgente: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Solução revelada em aula com a senha da turma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F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Sessão (memória de conversa)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08792" cy="594360"/>
          </a:xfrm>
          <a:prstGeom prst="roundRect">
            <a:avLst>
              <a:gd name="adj" fmla="val 9231"/>
            </a:avLst>
          </a:prstGeom>
          <a:solidFill>
            <a:srgbClr val="12332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memória</a:t>
            </a:r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 prontuário do atendimento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DE APLICAÇÃO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566928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que coleta aos poucos: o cidadão dá tipo, local e data em turnos separados; a sessão junta tudo e o agente consolida no fim.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caso, uma sessão: o contexto do caso A não aparece no caso B — o isolamento por identificador é requisito de sigilo.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de chamado: lembra o histórico do atendimento entre mensagens e entre dias (sessão persistida em arquivo).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29400" y="2514600"/>
            <a:ext cx="4919472" cy="3840480"/>
          </a:xfrm>
          <a:prstGeom prst="roundRect">
            <a:avLst>
              <a:gd name="adj" fmla="val 1905"/>
            </a:avLst>
          </a:prstGeom>
          <a:solidFill>
            <a:srgbClr val="121F35"/>
          </a:solidFill>
          <a:ln w="12700">
            <a:solidFill>
              <a:srgbClr val="233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697480"/>
            <a:ext cx="4462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3017520"/>
            <a:ext cx="44622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Sessão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é a memória de conversa entre turnos: sem ela, cada chamada ao Runner começa do zero. A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SQLiteSession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guarda o histórico e devolve para o agente a cada novo turno.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5852160"/>
            <a:ext cx="44622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docs — Sessions  </a:t>
            </a:r>
            <a:pPr indent="0" marL="0">
              <a:buNone/>
            </a:pPr>
            <a:r>
              <a:rPr lang="en-US" sz="1000" u="sng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https://openai.github.io/openai-agents-python/sessions/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· SQLITESESSION — MEMÓRIA ENTRE TURNOS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· SESSÃO (MEMÓRIA DE CONVERSA)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SQLiteSession — memória entre turnos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Runner.run é, por padrão, um atendente novo. SQLiteSession(id) guarda o histórico sob um identificador e o reinjeta a cada chamada. Sem db_path é :memory: — mora na RAM.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08792" cy="4023360"/>
          </a:xfrm>
          <a:prstGeom prst="roundRect">
            <a:avLst>
              <a:gd name="adj" fmla="val 1818"/>
            </a:avLst>
          </a:prstGeom>
          <a:solidFill>
            <a:srgbClr val="0F1B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23744"/>
            <a:ext cx="10451592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import Agent, Runner, SQLiteSession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sessao = ____("conversa_do_jr")      # ← o objeto de memória (sem db_path = RAM)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 = Runner.run_sync(agente, "Qual a capital da França?", ____=sessao)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 = Runner.run_sync(agente, "E quantos habitantes ela tem?", ____=sessao)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                         ↑ "ela" só funciona com o histórico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 · DESAFIO · SESSÃO + FERRAMENTA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 · SESSÃO (MEMÓRIA DE CONVERSA)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· sessão + ferramenta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08792" cy="3108960"/>
          </a:xfrm>
          <a:prstGeom prst="roundRect">
            <a:avLst>
              <a:gd name="adj" fmla="val 2353"/>
            </a:avLst>
          </a:prstGeom>
          <a:solidFill>
            <a:srgbClr val="3A2E12"/>
          </a:solidFill>
          <a:ln w="12700">
            <a:solidFill>
              <a:srgbClr val="6B4E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03601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com a ferramenta de clima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uma sessão. Pergunte a temperatura de uma cidade, depois de outra e, no 3º turno, qual está mais quente — sem repetir números. A sessão guarda também os resultados das ferramentas, então o 3º turno compara sem nova chamada de API.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Solução revelada em aula com a senha da turma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 · DESAFIO · ISOLAMENTO ENTRE SESSÕES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 · SESSÃO (MEMÓRIA DE CONVERSA)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· isolamento entre sessões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08792" cy="3108960"/>
          </a:xfrm>
          <a:prstGeom prst="roundRect">
            <a:avLst>
              <a:gd name="adj" fmla="val 2353"/>
            </a:avLst>
          </a:prstGeom>
          <a:solidFill>
            <a:srgbClr val="3A2E12"/>
          </a:solidFill>
          <a:ln w="12700">
            <a:solidFill>
              <a:srgbClr val="6B4E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03601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sessões com ids distintos (dois “casos”). Informe um dado na primeira, pergunte na segunda (não deve saber) e confirme na primeira (deve lembrar). O id da sessão é o que impede o vazamento de contexto entre casos — decisão de segurança, não detalhe técnico.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Solução revelada em aula com a senha da turma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 · DESAFIO · COLETA PROGRESSIVA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 · SESSÃO (MEMÓRIA DE CONVERSA)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· coleta progressiva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08792" cy="3108960"/>
          </a:xfrm>
          <a:prstGeom prst="roundRect">
            <a:avLst>
              <a:gd name="adj" fmla="val 2353"/>
            </a:avLst>
          </a:prstGeom>
          <a:solidFill>
            <a:srgbClr val="3A2E12"/>
          </a:solidFill>
          <a:ln w="12700">
            <a:solidFill>
              <a:srgbClr val="6B4E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03601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que coleta aos poucos: o usuário fornece tipo, local e data em turnos separados e, no fim, pede o resumo consolidado. Nenhum turno isolado tem a informação completa — é a sessão que acumula. Sem memória, o último turno não teria o que resumir.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Solução revelada em aula com a senha da turma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 · MEMÓRIA EM ARQUIVO (PERSISTÊNCIA)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 · SESSÃO (MEMÓRIA DE CONVERSA)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Memória em ARQUIVO (persistência)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08792" cy="3108960"/>
          </a:xfrm>
          <a:prstGeom prst="roundRect">
            <a:avLst>
              <a:gd name="adj" fmla="val 2353"/>
            </a:avLst>
          </a:prstGeom>
          <a:solidFill>
            <a:srgbClr val="3A2E12"/>
          </a:solidFill>
          <a:ln w="12700">
            <a:solidFill>
              <a:srgbClr val="6B4E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03601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do 5.1, passe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db_path=...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ao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SQLiteSession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a conversa sobreviver ao fim do programa. Detecte se é a 1ª execução (o arquivo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.db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ainda não existe): na 1ª, registre um dado; nas seguintes, recupere-o. Rode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vezes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provar que o programa fechou entre elas.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Solução revelada em aula com a senha da turma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F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(travas de segurança)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08792" cy="594360"/>
          </a:xfrm>
          <a:prstGeom prst="roundRect">
            <a:avLst>
              <a:gd name="adj" fmla="val 9231"/>
            </a:avLst>
          </a:prstGeom>
          <a:solidFill>
            <a:srgbClr val="12332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travas de segurança</a:t>
            </a:r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detector de metais na entrada + revisão na saída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DE APLICAÇÃO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566928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 de LGPD na entrada: bloqueia ‘me dá o endereço residencial do servidor João’ e explica por que barrou.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de PII na saída: se a resposta contiver CPF, telefone ou e-mail, ela é barrada antes de chegar ao cidadão.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Escopo: o assistente de RH recusa educadamente perguntas fora de RH.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Anti-injeção: valida o conteúdo que volta de uma tool que leu um documento externo, tratando-o como não-confiável.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29400" y="2514600"/>
            <a:ext cx="4919472" cy="3840480"/>
          </a:xfrm>
          <a:prstGeom prst="roundRect">
            <a:avLst>
              <a:gd name="adj" fmla="val 1905"/>
            </a:avLst>
          </a:prstGeom>
          <a:solidFill>
            <a:srgbClr val="121F35"/>
          </a:solidFill>
          <a:ln w="12700">
            <a:solidFill>
              <a:srgbClr val="233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697480"/>
            <a:ext cx="4462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3017520"/>
            <a:ext cx="44622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são travas que rodam em paralelo ao agente: um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input_guardrail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inspeciona o pedido do usuário antes de gastar tokens com o agente principal; um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output_guardrail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inspeciona a resposta antes de ela sair.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5852160"/>
            <a:ext cx="44622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docs — Guardrails  </a:t>
            </a:r>
            <a:pPr indent="0" marL="0">
              <a:buNone/>
            </a:pPr>
            <a:r>
              <a:rPr lang="en-US" sz="1000" u="sng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https://openai.github.io/openai-agents-python/guardrails/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 · INPUT GUARDRAIL (PYTHON PURO)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 · GUARDRAILS (TRAVAS DE SEGURANÇA)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guardrail (Python puro)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trava que roda ANTES do agente. Se detecta algo proibido, dispara o tripwire e a execução para com exceção — o agente principal nem responde. Aqui a checagem é lista de palavras.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08792" cy="4023360"/>
          </a:xfrm>
          <a:prstGeom prst="roundRect">
            <a:avLst>
              <a:gd name="adj" fmla="val 1818"/>
            </a:avLst>
          </a:prstGeom>
          <a:solidFill>
            <a:srgbClr val="0F1B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23744"/>
            <a:ext cx="10451592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@input_guardrail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bloquear_off_topic(ctx, agent, input) -&gt; GuardrailFunctionOutput: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texto = input if isinstance(input, str) else str(input)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violou = any(p in texto.lower() for p in ["receita", "futebol", "fofoca"])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GuardrailFunctionOutput(output_info={}, tripwire_triggered=____)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                                                           ↑ o que dispara o bloqueio?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 = Agent(name="Tutor de Programação",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____=[bloquear_off_topic])       # ← input_guardrails ou output?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"Como faço um loop?" passa | "receita de bolo?" -&gt; InputGuardrailTripwireTriggered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 · DESAFIO · INPUT GUARDRAIL COM LLM (LGPD)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 · GUARDRAILS (TRAVAS DE SEGURANÇA)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· input guardrail com LLM (LGPD)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08792" cy="3108960"/>
          </a:xfrm>
          <a:prstGeom prst="roundRect">
            <a:avLst>
              <a:gd name="adj" fmla="val 2353"/>
            </a:avLst>
          </a:prstGeom>
          <a:solidFill>
            <a:srgbClr val="3A2E12"/>
          </a:solidFill>
          <a:ln w="12700">
            <a:solidFill>
              <a:srgbClr val="6B4E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03601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agente “verificador” (com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output_type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classifica se a mensagem pede dados pessoais sensíveis de terceiros (CPF, endereço residencial, telefone). Use-o dentro de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@input_guardrail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 sensível, dispare o </a:t>
            </a:r>
            <a:pPr indent="0" marL="0">
              <a:lnSpc>
                <a:spcPct val="135000"/>
              </a:lnSpc>
              <a:buNone/>
            </a:pPr>
            <a:r>
              <a:rPr lang="en-US" sz="17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tripwire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Ligue a um “Assistente Institucional” e teste com uma dúvida legítima e uma que peça dados de um servidor.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Solução revelada em aula com a senha da turma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 · DESAFIO · OUTPUT GUARDRAIL (REGEX, SEM LLM)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 · GUARDRAILS (TRAVAS DE SEGURANÇA)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· output guardrail (regex, sem LLM)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08792" cy="3108960"/>
          </a:xfrm>
          <a:prstGeom prst="roundRect">
            <a:avLst>
              <a:gd name="adj" fmla="val 2353"/>
            </a:avLst>
          </a:prstGeom>
          <a:solidFill>
            <a:srgbClr val="3A2E12"/>
          </a:solidFill>
          <a:ln w="12700">
            <a:solidFill>
              <a:srgbClr val="6B4E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03601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@output_guardrail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inspeciona a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agente e dispara se ela contiver um CPF, usando expressão regular. Sem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sem LLM — regex Python puro, instantâneo e de graça. Exceção correspondente: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OutputGuardrailTripwireTriggered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Solução revelada em aula com a senha da turma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F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(resposta em tempo real)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08792" cy="594360"/>
          </a:xfrm>
          <a:prstGeom prst="roundRect">
            <a:avLst>
              <a:gd name="adj" fmla="val 9231"/>
            </a:avLst>
          </a:prstGeom>
          <a:solidFill>
            <a:srgbClr val="12332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em tempo real</a:t>
            </a:r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ver o funcionário digitando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DE APLICAÇÃO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566928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no site da PCDF: efeito ‘digitando’ + aviso visível ‘consultando o sistema…’ e ‘transferindo para o setor X’.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do atendente: acompanhar em tempo real qual ferramenta o agente chamou e o que voltou — auditoria ao vivo.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Respostas longas: relatório ou resumo extenso que o servidor começa a ler antes de terminar de gerar.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29400" y="2514600"/>
            <a:ext cx="4919472" cy="3840480"/>
          </a:xfrm>
          <a:prstGeom prst="roundRect">
            <a:avLst>
              <a:gd name="adj" fmla="val 1905"/>
            </a:avLst>
          </a:prstGeom>
          <a:solidFill>
            <a:srgbClr val="121F35"/>
          </a:solidFill>
          <a:ln w="12700">
            <a:solidFill>
              <a:srgbClr val="233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697480"/>
            <a:ext cx="4462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3017520"/>
            <a:ext cx="44622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receber a resposta do agente em pedaços (eventos), à medida que o modelo gera cada token, em vez de esperar a resposta inteira pronta.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Runner.run_streamed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devolve um iterador assíncrono de eventos.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5852160"/>
            <a:ext cx="44622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docs — Streaming  </a:t>
            </a:r>
            <a:pPr indent="0" marL="0">
              <a:buNone/>
            </a:pPr>
            <a:r>
              <a:rPr lang="en-US" sz="1000" u="sng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https://openai.github.io/openai-agents-python/streaming/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 · TOKENS, UM A UM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 · STREAMING (RESPOSTA EM TEMPO REAL)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Tokens, um a um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Runner.run_streamed(...) não leva await — já devolve o objeto de stream. stream.stream_events() é um gerador assíncrono (async def + async for + asyncio.run). Filtramos os eventos de texto cru.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08792" cy="4023360"/>
          </a:xfrm>
          <a:prstGeom prst="roundRect">
            <a:avLst>
              <a:gd name="adj" fmla="val 1818"/>
            </a:avLst>
          </a:prstGeom>
          <a:solidFill>
            <a:srgbClr val="0F1B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23744"/>
            <a:ext cx="10451592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asyncio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openai.types.responses import ResponseTextDeltaEvent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main():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stream = Runner.run_streamed(agente, "Conte uma micro-história.")   # SEM await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for event in stream.stream_events():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(event.type == "____"                     # ← eventos de texto CRU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and isinstance(event.data, ResponseTextDeltaEvent)):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print(event.data.delta, end="", flush=True)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asyncio.run(main())    # stream_events() é async -&gt; async def + async for + asyncio.run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 · DESAFIO · STREAMING + FERRAMENTA (CICLO DE VIDA)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 · STREAMING (RESPOSTA EM TEMPO REAL)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· streaming + ferramenta (ciclo de vida)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08792" cy="3108960"/>
          </a:xfrm>
          <a:prstGeom prst="roundRect">
            <a:avLst>
              <a:gd name="adj" fmla="val 2353"/>
            </a:avLst>
          </a:prstGeom>
          <a:solidFill>
            <a:srgbClr val="3A2E12"/>
          </a:solidFill>
          <a:ln w="12700">
            <a:solidFill>
              <a:srgbClr val="6B4E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03601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Além dos tokens do texto, trate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run_item_stream_event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imprima quando a ferramenta é chamada (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== "tool_called"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e quando o resultado chega (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== "tool_output"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em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event.item.output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A turma deve ver,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ordem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ferramenta acionada → o dado voltando → a resposta sendo digitada.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Solução revelada em aula com a senha da turma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 · DESAFIO · STREAMING + HANDOFF (O MOMENTO DA TRANSFERÊNCIA)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 · STREAMING (RESPOSTA EM TEMPO REAL)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· streaming + handoff (o momento da transferência)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08792" cy="3108960"/>
          </a:xfrm>
          <a:prstGeom prst="roundRect">
            <a:avLst>
              <a:gd name="adj" fmla="val 2353"/>
            </a:avLst>
          </a:prstGeom>
          <a:solidFill>
            <a:srgbClr val="3A2E12"/>
          </a:solidFill>
          <a:ln w="12700">
            <a:solidFill>
              <a:srgbClr val="6B4E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03601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Reaproveite um triador (seção 3) e trate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agent_updated_stream_event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quando o agente ativo mudar, imprima quem assumiu (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FF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event.new_agent.name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dos tokens. Torna visível o instante exato do handoff.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Solução revelada em aula com a senha da turma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F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Integrador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08792" cy="594360"/>
          </a:xfrm>
          <a:prstGeom prst="roundRect">
            <a:avLst>
              <a:gd name="adj" fmla="val 9231"/>
            </a:avLst>
          </a:prstGeom>
          <a:solidFill>
            <a:srgbClr val="12332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junto</a:t>
            </a:r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 atendimento completo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DE APLICAÇÃO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566928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Assistente de ouvidoria completo: responde no tom certo (persona), consulta sistemas (tool), lembra a conversa (sessão), barra dado sensível (guardrail) e entrega a manifestação já estruturada (output_type).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Balcão virtual de RH: a mesma combinação para dúvidas + consulta ao ponto e férias + registro de uma solicitação.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 a plantão: consulta de dados cadastrais e de localização, com trava de sigilo e histórico por ocorrência.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29400" y="2514600"/>
            <a:ext cx="4919472" cy="3840480"/>
          </a:xfrm>
          <a:prstGeom prst="roundRect">
            <a:avLst>
              <a:gd name="adj" fmla="val 1905"/>
            </a:avLst>
          </a:prstGeom>
          <a:solidFill>
            <a:srgbClr val="121F35"/>
          </a:solidFill>
          <a:ln w="12700">
            <a:solidFill>
              <a:srgbClr val="233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697480"/>
            <a:ext cx="4462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3017520"/>
            <a:ext cx="44622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uma capacidade nova do SDK, e sim a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combinação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das anteriores num único agente: tools, handoff, saída estruturada e memória de sessão juntos — o atendimento completo.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5852160"/>
            <a:ext cx="44622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docs — Orquestrando vários agentes  </a:t>
            </a:r>
            <a:pPr indent="0" marL="0">
              <a:buNone/>
            </a:pPr>
            <a:r>
              <a:rPr lang="en-US" sz="1000" u="sng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https://openai.github.io/openai-agents-python/multi_agent/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 · FERRAMENTA + SESSÃO + GUARDRAIL + OUTPUT_TYPE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 · INTEGRADOR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 + sessão + guardrail + output_type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atendimento completo num agente só. get_temperatura (ferramenta), guardrail_lgpd + ChecagemLGPD (guardrail + output_type), SQLiteSession (sessão).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08792" cy="4023360"/>
          </a:xfrm>
          <a:prstGeom prst="roundRect">
            <a:avLst>
              <a:gd name="adj" fmla="val 1818"/>
            </a:avLst>
          </a:prstGeom>
          <a:solidFill>
            <a:srgbClr val="0F1B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23744"/>
            <a:ext cx="10451592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assistente = Agent(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name="Assistente de Atendimento",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instructions="Ajude o cidadão, em português. Use a ferramenta de clima.",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tools=[get_temperatura],                  # seção 2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input_guardrails=[guardrail_lgpd],        # seção 6 (+ output_type na seção 4)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sessao = SQLiteSession("atendimento_integrador")   # seção 5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turno 1 -&gt; ferramenta | turno 2 -&gt; memória | turno 3 -&gt; guardrail barra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obs: guardrail_lgpd é async e usa `await Runner.run(...)` — run_sync AQUI quebra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F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Limites, segurança e produção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08792" cy="594360"/>
          </a:xfrm>
          <a:prstGeom prst="roundRect">
            <a:avLst>
              <a:gd name="adj" fmla="val 9231"/>
            </a:avLst>
          </a:prstGeom>
          <a:solidFill>
            <a:srgbClr val="12332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</a:t>
            </a:r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conversa que decide se o protótipo vira sistema real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DE APLICAÇÃO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566928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set: montar 20 perguntas reais de ouvidoria com a resposta esperada e rodar a cada mudança de prompt ou de modelo.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Auditoria: guardar o RunResult de cada atendimento para reconstruir o que o agente fez, se questionado.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com aprovação: se o agente for registrar a ocorrência (não só redigir), um servidor confirma antes de gravar.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29400" y="2514600"/>
            <a:ext cx="4919472" cy="3840480"/>
          </a:xfrm>
          <a:prstGeom prst="roundRect">
            <a:avLst>
              <a:gd name="adj" fmla="val 1905"/>
            </a:avLst>
          </a:prstGeom>
          <a:solidFill>
            <a:srgbClr val="121F35"/>
          </a:solidFill>
          <a:ln w="12700">
            <a:solidFill>
              <a:srgbClr val="233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697480"/>
            <a:ext cx="4462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3017520"/>
            <a:ext cx="44622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sobre uma classe do SDK, e sim sobre o que separa um protótipo de aula de um sistema em produção: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/observabilidade, custo e limites de uso, tratamento de erro, e onde os guardrails de fato importam quando o dado é sensível (LGPD).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5852160"/>
            <a:ext cx="44622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docs — Tracing (observabilidade)  </a:t>
            </a:r>
            <a:pPr indent="0" marL="0">
              <a:buNone/>
            </a:pPr>
            <a:r>
              <a:rPr lang="en-US" sz="1000" u="sng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https://openai.github.io/openai-agents-python/tracing/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 · O LOOP DO AGENTE E O MAX_TURNS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 · LIMITES, SEGURANÇA E PRODUÇÃO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loop do agente e o max_turns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turno = o modelo decide responder OU chamar ferramenta → se chamou, o Runner executa e devolve → decide de novo. Runner.run(..., max_turns=N), padrão 10. Estourou → MaxTurnsExceeded.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 · PROMPT INJECTION INDIRETA (PELO CONTEÚDO DAS FERRAMENTAS)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 · LIMITES, SEGURANÇA E PRODUÇÃO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indireta (pelo conteúdo das ferramentas)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Seção 6 protege contra o que o cidadão digita. O ataque também vem de dentro: uma ferramenta lê um PDF apreendido / e-mail / página com "IGNORE suas instruções...". Para o modelo, dado e instrução chegam do mesmo jeito — como texto.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 · QUANDO NÃO USAR UM AGENTE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 · LIMITES, SEGURANÇA E PRODUÇÃO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NÃO usar um agente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determinística (validar CPF, buscar CEP no banco, somar) → código comum: mais rápido, de graça, testável, sempre igual. Agente só quando é preciso entender linguagem ambígua ou decidir rota sem regra fixa.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 · AÇÃO CONSEQUENTE EXIGE APROVAÇÃO HUMANA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 · LIMITES, SEGURANÇA E PRODUÇÃO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consequente exige aprovação humana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exemplos do curso só leem. Quando uma ferramenta escreve — registra ocorrência, dispara ofício, altera cadastro, marca alguém — o erro tem efeito direto. O padrão: a ferramenta propõe → um humano aprova → só então roda.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funcionário, capacidades somadas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roteamento e as decisões são feitos em linguagem natural — o código nosso é só a "cola" (ferramentas, travas, memória). Isso é poderoso e exige revisão humana onde a saída vira registro oficial.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pôr um agente em produção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— golden set: casos com resposta aceitável, rodados a cada mudança de prompt/modelo.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Auditar — o RunResult guarda tudo; é a trilha para reconstruir o que o agente fez.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e latência — 1 turno com ferramenta ≈ 2+ chamadas ao modelo; multiplique pelo volume.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drift — o modelo hospedado muda sem aviso; fixe a versão e re-rode o golden set.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Ética e limites no contexto PCDF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 de agente não é ato oficial — sempre há ratificação humana.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Viés em classificação (vítima/suspeito, risco) — nunca decisão automática, só apoio revisado.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Residência do dado — dado sob sigilo não vai para API de terceiro; ambiente controlado ou modelo local.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LGPD EM UMA FRASE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Minimizar o dado na origem, isolar contexto por caso, e ter trava de entrada e de saída.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F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EXTRA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Expondo um agente como API (FastAPI)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08792" cy="594360"/>
          </a:xfrm>
          <a:prstGeom prst="roundRect">
            <a:avLst>
              <a:gd name="adj" fmla="val 9231"/>
            </a:avLst>
          </a:prstGeom>
          <a:solidFill>
            <a:srgbClr val="12332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atender por HTTP</a:t>
            </a:r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 mesmo funcionário, agora também atende por telefone, não só no balcão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DE APLICAÇÃO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566928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 atendimento: outro sistema da casa (intranet, app, outro agente) conversa com o agente via POST /perguntar, sem reescrever a lógica de IA em cada frontend.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entre sistemas: um sistema de protocolo chama a API do agente de triagem para classificar um documento, sem se acoplar ao SDK.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vivo: o Pydantic valida entrada/saída e o /docs (Swagger) documenta a integração para quem for consumi-la.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29400" y="2514600"/>
            <a:ext cx="4919472" cy="3840480"/>
          </a:xfrm>
          <a:prstGeom prst="roundRect">
            <a:avLst>
              <a:gd name="adj" fmla="val 1905"/>
            </a:avLst>
          </a:prstGeom>
          <a:solidFill>
            <a:srgbClr val="121F35"/>
          </a:solidFill>
          <a:ln w="12700">
            <a:solidFill>
              <a:srgbClr val="233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697480"/>
            <a:ext cx="4462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3017520"/>
            <a:ext cx="44622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não substitui o Agent — é a porta HTTP de entrada. Uma rota recebe uma mensagem, chama Runner.run_sync(agente, mensagem) e devolve resultado.final_output em JSON. Quem decide usar (ou não) uma tool continua sendo o modelo.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5852160"/>
            <a:ext cx="44622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— documentação  </a:t>
            </a:r>
            <a:pPr indent="0" marL="0">
              <a:buNone/>
            </a:pPr>
            <a:r>
              <a:rPr lang="en-US" sz="1000" u="sng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https://fastapi.tiangolo.com/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EXTRA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→ FastAPI → Agent → Runner → LLM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faz um HTTP POST com {"mensagem": "..."}.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valida o corpo (Pydantic) e chama executar_agente(mensagem).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(instructions + tools) + Runner.run_sync executam o mesmo ciclo das Seções 1–2.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LLM decide sozinho se chama uma tool — a API nunca chama a tool direto.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resposta final volta como JSON: {"pergunta":..., "resposta":...}.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EXTRA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provedor.py · agente_clima.py · main.py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provedor.py — mesma configuração do curso (.env, OPENAI_API_KEY/PROVEDOR).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agente_clima.py — Agent + @function_tool + Runner.run_sync, encapsulados em executar_agente(mensagem).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main.py — FastAPI: só recebe, valida e devolve; importa executar_agente e chama.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EXTRA — AGENTE_CLIMA.PY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EXTRA · AGENTE_CLIMA.PY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agente, dentro de uma função reutilizável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Agent + @function_tool da Seção 2 — só que agora dentro de executar_agente(mensagem), para o FastAPI chamar.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08792" cy="4023360"/>
          </a:xfrm>
          <a:prstGeom prst="roundRect">
            <a:avLst>
              <a:gd name="adj" fmla="val 1818"/>
            </a:avLst>
          </a:prstGeom>
          <a:solidFill>
            <a:srgbClr val="0F1B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23744"/>
            <a:ext cx="10451592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import Agent, Runner, function_tool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provedor import configurar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configurar()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@________                                  # ← mesmo decorator da Seção 2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consultar_clima(cidade: str) -&gt; str: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"""Retorna o clima atual de uma cidade.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Args: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cidade: nome da cidade a consultar.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dados = {"São Paulo": "22°C, nublado", "Brasília": "28°C, sol"}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dados.get(cidade, "Cidade não encontrada.")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 = Agent(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name="Assistente de Clima",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instructions="Use a ferramenta quando perguntarem sobre o tempo.",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tools=[consultar_clima],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executar_agente(mensagem: str) -&gt; str: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Runner.____(agente, mensagem)   # ← mesma chamada da Seção 1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resultado.____________                # ← só o texto final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EXTRA — MAIN.PY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EXTRA · MAIN.PY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rota que expõe o agente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só recebe, valida (Pydantic) e devolve. Quem decide o que fazer com a mensagem continua sendo o agente.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08792" cy="4023360"/>
          </a:xfrm>
          <a:prstGeom prst="roundRect">
            <a:avLst>
              <a:gd name="adj" fmla="val 1818"/>
            </a:avLst>
          </a:prstGeom>
          <a:solidFill>
            <a:srgbClr val="0F1B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23744"/>
            <a:ext cx="10451592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agente_clima import executar_agente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Pergunta(____):                     # ← o que valida o corpo da requisição?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mensagem: str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@app.____("/perguntar")                   # ← GET ou POST? por quê?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perguntar(pergunta: Pergunta):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resposta = executar_agente(pergunta.mensagem)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{"pergunta": pergunta.mensagem, "resposta": resposta}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uvicorn main:____ --reload   →  http://127.0.0.1:8000/docs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EXTRA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PONTO-CHAVE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API não chama a tool — o agente decide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main.py nunca escreve consultar_clima("Brasília"). Ele chama executar_agente(mensagem); quem decide se precisa da ferramenta é o modelo, dentro do Runner.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0908792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"Como está o tempo em Brasília?" → o modelo decide chamar consultar_clima.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que é inteligência artificial?" → o modelo responde sem tool nenhuma.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duas tools, o modelo pode usar nenhuma, uma ou as duas — no mesmo endpoint.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EXTRA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PRATICAR DEPOIS DA AULA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Desafio: múltiplas tools, e depois RAG e multiagentes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1 — acrescente consultar_cotacao(moeda) ao agente e teste: só clima, só cotação, os dois juntos, nenhum dos dois.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2 — crie POST /clima chamando consultar_clima() direto e compare com POST /perguntar: a mesma pergunta, duas arquiteturas.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passo natural: a mesma API pode crescer para consultar uma base de conhecimento (RAG) ou rotear entre agentes especialistas (Supervisor + Agente A/B/C) — sem mudar o contrato HTTP.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74552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2026-09-15T15:51:50Z</dcterms:created>
  <dcterms:modified xsi:type="dcterms:W3CDTF">2026-09-15T15:51:50Z</dcterms:modified>
</cp:coreProperties>
</file>