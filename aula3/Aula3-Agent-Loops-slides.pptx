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spc="300" kern="0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56032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Engenharia de Agent Loops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411480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E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Multiagentes com IA · Aula 3 · SDK openai-agents. Setas ← → (ou Espaço). Tecla F: tela cheia.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VIRTUAL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E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Antes de começar: instalação e configuração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10881360" cy="0"/>
          </a:xfrm>
          <a:prstGeom prst="line">
            <a:avLst/>
          </a:prstGeom>
          <a:noFill/>
          <a:ln w="19050">
            <a:solidFill>
              <a:srgbClr val="D4AF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373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processo da Aula 1, com uma diferença: hoje usamos recursos mais recentes do SDK (needs_approval, RunState), então confira se as dependências estão atualizadas mesmo se o venv já existir.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2606040"/>
            <a:ext cx="108813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Criar o venv — Windows (PowerShell): python -m venv .venv depois .venv\Scripts\Activate.ps1 · Linux/Mac: python3 -m venv .venv depois source .venv/bin/activate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Instalar as dependências — pip install -r requirements.txt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Criar o .env — copiar .env.example, renomear pra .env, preencher a chave da OpenAI (ou os dados do Ollama local)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Conferir provedor.py — deve estar na raiz do projeto, junto dos scripts dos exercícios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4251960"/>
            <a:ext cx="10881360" cy="1371600"/>
          </a:xfrm>
          <a:prstGeom prst="roundRect">
            <a:avLst>
              <a:gd name="adj" fmla="val 4000"/>
            </a:avLst>
          </a:prstGeom>
          <a:solidFill>
            <a:srgbClr val="0E1220"/>
          </a:solidFill>
          <a:ln w="12700">
            <a:solidFill>
              <a:srgbClr val="2A31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4343400"/>
            <a:ext cx="10607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requirements.txt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openai-agents&gt;=0.22.0,&lt;0.23.0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python-dotenv&gt;=1.0.0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requests&gt;=2.31.0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pydantic&gt;=2.0.0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5394960"/>
            <a:ext cx="10881360" cy="822960"/>
          </a:xfrm>
          <a:prstGeom prst="roundRect">
            <a:avLst>
              <a:gd name="adj" fmla="val 6667"/>
            </a:avLst>
          </a:prstGeom>
          <a:solidFill>
            <a:srgbClr val="FFF6E5"/>
          </a:solidFill>
          <a:ln w="12700">
            <a:solidFill>
              <a:srgbClr val="D4AF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5468112"/>
            <a:ext cx="105156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+ PowerShell: se a ativação do venv falhar por política de execução, rode antes: Set-ExecutionPolicy -Scope Process -ExecutionPolicy RemoteSigned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de 41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686800" y="65379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Engenharia de Agent Loops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VIRTUAL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E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.env — variáveis de ambiente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10881360" cy="0"/>
          </a:xfrm>
          <a:prstGeom prst="line">
            <a:avLst/>
          </a:prstGeom>
          <a:noFill/>
          <a:ln w="19050">
            <a:solidFill>
              <a:srgbClr val="D4AF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373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PROVEDOR decide qual backend o provedor.py configura: "openai" ou "ollama". Sem essa configuração, nenhum exemplo da aula roda.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606040"/>
            <a:ext cx="10881360" cy="2743200"/>
          </a:xfrm>
          <a:prstGeom prst="roundRect">
            <a:avLst>
              <a:gd name="adj" fmla="val 2000"/>
            </a:avLst>
          </a:prstGeom>
          <a:solidFill>
            <a:srgbClr val="0E1220"/>
          </a:solidFill>
          <a:ln w="12700">
            <a:solidFill>
              <a:srgbClr val="2A31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697480"/>
            <a:ext cx="106070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.env — copie de .env.example e preencha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PROVEDOR=openai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Necessário só se PROVEDOR=openai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OPENAI_API_KEY=coloque_sua_chave_aqui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OPENAI_DEFAULT_MODEL=gpt-4o-mini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Necessário só se PROVEDOR=ollama (modelo já baixado com `ollama pull`)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OLLAMA_BASE_URL=http://localhost:11434/v1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5394960"/>
            <a:ext cx="10881360" cy="822960"/>
          </a:xfrm>
          <a:prstGeom prst="roundRect">
            <a:avLst>
              <a:gd name="adj" fmla="val 6667"/>
            </a:avLst>
          </a:prstGeom>
          <a:solidFill>
            <a:srgbClr val="FFF6E5"/>
          </a:solidFill>
          <a:ln w="12700">
            <a:solidFill>
              <a:srgbClr val="D4AF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468112"/>
            <a:ext cx="105156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exemplo da aula começa com: from provedor import configurar; configurar() — essa linha lê o .env e liga o SDK ao backend certo.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de 41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686800" y="65379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Engenharia de Agent Loops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DA AULA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E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Hoje trocamos “conhecer o agente” por “controlar o loop”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10881360" cy="0"/>
          </a:xfrm>
          <a:prstGeom prst="line">
            <a:avLst/>
          </a:prstGeom>
          <a:noFill/>
          <a:ln w="19050">
            <a:solidFill>
              <a:srgbClr val="D4AF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373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Aula 1 apresentou tools, handoff, output_type, sessão, guardrails e streaming — peças soltas. Hoje é sobre o que acontece POR DENTRO do Runner entre uma pergunta e a resposta final.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2606040"/>
            <a:ext cx="108813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o loop por baixo dos panos — turno a turno, com hooks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critérios de parada — max_turns, sucesso declarado, timeout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retries e resiliência — ferramenta que falha, backoff, idempotência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autonomia e freio humano — agente propõe, humano aprova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observando o loop ao vivo — streaming aplicado ao loop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loop com decisões encadeadas — cenário PCDF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de 41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686800" y="65379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Engenharia de Agent Loops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E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loop por baixo dos panos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10881360" cy="0"/>
          </a:xfrm>
          <a:prstGeom prst="line">
            <a:avLst/>
          </a:prstGeom>
          <a:noFill/>
          <a:ln w="19050">
            <a:solidFill>
              <a:srgbClr val="D4AF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37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loop</a:t>
            </a:r>
            <a:pPr indent="0" marL="0">
              <a:buNone/>
            </a:pPr>
            <a:r>
              <a:rPr lang="en-US" sz="1500" i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 funcionário reconsultando a própria mesa até resolver: decide (responder ou agir), se agir ele volta a reconsultar, e repete até achar que terminou.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Atendimento com consultas encadeadas: CNPJ → endereço → telefonia — cada consulta é um turno do loop, não uma sequência escrita à mão.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Apoio à investigação: o agente decide sozinho quando já tem dado suficiente pra parar de consultar sistemas.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caso em que “quantas vezes o agente vai precisar chamar ferramenta” não é fixo — só o loop resolve isso.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4251960"/>
            <a:ext cx="108813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3DCC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389120"/>
            <a:ext cx="10515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</a:t>
            </a:r>
            <a:pPr indent="0" marL="0">
              <a:buNone/>
            </a:pPr>
            <a:r>
              <a:rPr lang="en-US" sz="125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</a:t>
            </a:r>
            <a:pPr indent="0" marL="0">
              <a:buNone/>
            </a:pPr>
            <a:r>
              <a:rPr lang="en-US" sz="12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é uma rodada de decisão do modelo: responder em texto </a:t>
            </a:r>
            <a:pPr indent="0" marL="0">
              <a:buNone/>
            </a:pPr>
            <a:r>
              <a:rPr lang="en-US" sz="125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</a:t>
            </a:r>
            <a:pPr indent="0" marL="0">
              <a:buNone/>
            </a:pPr>
            <a:r>
              <a:rPr lang="en-US" sz="12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pedir uma chamada de ferramenta. </a:t>
            </a:r>
            <a:pPr indent="0" marL="0">
              <a:buNone/>
            </a:pPr>
            <a:r>
              <a:rPr lang="en-US" sz="1250" dirty="0">
                <a:solidFill>
                  <a:srgbClr val="D4A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Runner.run</a:t>
            </a:r>
            <a:pPr indent="0" marL="0">
              <a:buNone/>
            </a:pPr>
            <a:r>
              <a:rPr lang="en-US" sz="12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pPr indent="0" marL="0">
              <a:buNone/>
            </a:pPr>
            <a:r>
              <a:rPr lang="en-US" sz="1250" dirty="0">
                <a:solidFill>
                  <a:srgbClr val="D4A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run_sync</a:t>
            </a:r>
            <a:pPr indent="0" marL="0">
              <a:buNone/>
            </a:pPr>
            <a:r>
              <a:rPr lang="en-US" sz="12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não é uma chamada única ao LLM — é um laço: chama o modelo → se ele pedir uma tool, executa a tool e devolve o resultado pro modelo → chama de novo → repete até o modelo responder em texto puro (ou até </a:t>
            </a:r>
            <a:pPr indent="0" marL="0">
              <a:buNone/>
            </a:pPr>
            <a:r>
              <a:rPr lang="en-US" sz="1250" dirty="0">
                <a:solidFill>
                  <a:srgbClr val="D4A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max_turns</a:t>
            </a:r>
            <a:pPr indent="0" marL="0">
              <a:buNone/>
            </a:pPr>
            <a:r>
              <a:rPr lang="en-US" sz="12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estourar). Isso já apareceu de raspão no 9.1 da Aula 1 — hoje a turma vai </a:t>
            </a:r>
            <a:pPr indent="0" marL="0">
              <a:buNone/>
            </a:pPr>
            <a:r>
              <a:rPr lang="en-US" sz="1250" i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</a:t>
            </a:r>
            <a:pPr indent="0" marL="0">
              <a:buNone/>
            </a:pPr>
            <a:r>
              <a:rPr lang="en-US" sz="12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cada turno acontecendo.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626364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Referência: SDK docs — Running agents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de 41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686800" y="65379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Engenharia de Agent Loops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· O LOOP POR BAIXO DOS PANOS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E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Tornando o loop visível com hooks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10881360" cy="0"/>
          </a:xfrm>
          <a:prstGeom prst="line">
            <a:avLst/>
          </a:prstGeom>
          <a:noFill/>
          <a:ln w="19050">
            <a:solidFill>
              <a:srgbClr val="D4AF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373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padrão o loop é caixa-preta: só se vê o resultado final. RunHooks deixa a turma enxergar cada turno em tempo real. on_llm_start dispara uma vez por CHAMADA ao modelo — isso sim é um turno (on_agent_start dispara só em troca de agente, não serve pra contar turno).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60604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E9EEF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60604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B4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ABERTO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40080" y="3017520"/>
            <a:ext cx="10881360" cy="3246120"/>
          </a:xfrm>
          <a:prstGeom prst="roundRect">
            <a:avLst>
              <a:gd name="adj" fmla="val 1690"/>
            </a:avLst>
          </a:prstGeom>
          <a:solidFill>
            <a:srgbClr val="0E1220"/>
          </a:solidFill>
          <a:ln w="12700">
            <a:solidFill>
              <a:srgbClr val="2A31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108960"/>
            <a:ext cx="1060704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agents import Agent, Runner, ____, function_tool     # ← que classe importar pra criar hooks?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provedor import configurar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configurar()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@function_tool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consultar_clima(cidade: str) -&gt; str: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"""Retorna o clima atual de uma cidade."""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dados = {"São Paulo": "22°C, nublado", "Brasília": "28°C, sol"}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dados.get(cidade, "Cidade não encontrada.")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LoopVisivel(____):                       # ← de qual classe herdar?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turno = 0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async def on_llm_start(self, ctx, agent, system_prompt, input_items):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self.turno += 1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print(f"\n--- turno {self.turno}: o modelo vai decidir ---")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async def on_tool_start(self, ctx, agent, tool):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  → decidiu chamar a ferramenta: {tool.name}")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 (continua no artifact interativo)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de 41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686800" y="65379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Engenharia de Agent Loops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· O LOOP POR BAIXO DOS PANOS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E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Desafio · forçar e tratar MaxTurnsExceeded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10881360" cy="0"/>
          </a:xfrm>
          <a:prstGeom prst="line">
            <a:avLst/>
          </a:prstGeom>
          <a:noFill/>
          <a:ln w="19050">
            <a:solidFill>
              <a:srgbClr val="D4AF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37360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F5E3C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37360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DESAFIO BLOQUEADO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108813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Reaproveite o agente do 1.1. Dê instruções que peçam pra ele sempre consultar a ferramenta de novo — e observe que, sozinha, essa instrução em texto NÃO é suficiente pra travar o modelo num loop (ele acaba respondendo mesmo assim). Depois force de verdade com </a:t>
            </a:r>
            <a:pPr indent="0" marL="0">
              <a:buNone/>
            </a:pPr>
            <a:r>
              <a:rPr lang="en-US" sz="1350" dirty="0">
                <a:solidFill>
                  <a:srgbClr val="D4A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ModelSettings(tool_choice="required")</a:t>
            </a:r>
            <a:pPr indent="0" marL="0">
              <a:buNone/>
            </a:pPr>
            <a:r>
              <a:rPr lang="en-US" sz="13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pPr indent="0" marL="0">
              <a:buNone/>
            </a:pPr>
            <a:r>
              <a:rPr lang="en-US" sz="1350" dirty="0">
                <a:solidFill>
                  <a:srgbClr val="D4A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reset_tool_choice=False</a:t>
            </a:r>
            <a:pPr indent="0" marL="0">
              <a:buNone/>
            </a:pPr>
            <a:r>
              <a:rPr lang="en-US" sz="13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</a:t>
            </a:r>
            <a:pPr indent="0" marL="0">
              <a:buNone/>
            </a:pPr>
            <a:r>
              <a:rPr lang="en-US" sz="1350" dirty="0">
                <a:solidFill>
                  <a:srgbClr val="D4A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</a:t>
            </a:r>
            <a:pPr indent="0" marL="0">
              <a:buNone/>
            </a:pPr>
            <a:r>
              <a:rPr lang="en-US" sz="13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rode com </a:t>
            </a:r>
            <a:pPr indent="0" marL="0">
              <a:buNone/>
            </a:pPr>
            <a:r>
              <a:rPr lang="en-US" sz="1350" dirty="0">
                <a:solidFill>
                  <a:srgbClr val="D4A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max_turns=3</a:t>
            </a:r>
            <a:pPr indent="0" marL="0">
              <a:buNone/>
            </a:pPr>
            <a:r>
              <a:rPr lang="en-US" sz="13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dentro de um </a:t>
            </a:r>
            <a:pPr indent="0" marL="0">
              <a:buNone/>
            </a:pPr>
            <a:r>
              <a:rPr lang="en-US" sz="1350" dirty="0">
                <a:solidFill>
                  <a:srgbClr val="D4A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try/except MaxTurnsExceeded</a:t>
            </a:r>
            <a:pPr indent="0" marL="0">
              <a:buNone/>
            </a:pPr>
            <a:r>
              <a:rPr lang="en-US" sz="13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 mostre quantos turnos rodaram antes de estourar.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5623560"/>
            <a:ext cx="10881360" cy="594360"/>
          </a:xfrm>
          <a:prstGeom prst="roundRect">
            <a:avLst>
              <a:gd name="adj" fmla="val 9231"/>
            </a:avLst>
          </a:prstGeom>
          <a:solidFill>
            <a:srgbClr val="EFEFF4"/>
          </a:solidFill>
          <a:ln w="12700">
            <a:solidFill>
              <a:srgbClr val="D3D3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62356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 está protegida por senha — revele no artifact interativo (link no topo da aula).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de 41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686800" y="65379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Engenharia de Agent Loops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ON_AGENT_START NÃO É CONTADOR DE TURNO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E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on_agent_start ≠ turno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10881360" cy="0"/>
          </a:xfrm>
          <a:prstGeom prst="line">
            <a:avLst/>
          </a:prstGeom>
          <a:noFill/>
          <a:ln w="19050">
            <a:solidFill>
              <a:srgbClr val="D4AF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373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on_agent_start dispara “cada vez que o agente ativo muda” — ou seja, em handoff. Com um único agente (sem handoff), ele dispara UMA VEZ SÓ, mesmo que o loop rode vários turnos por dentro.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2606040"/>
            <a:ext cx="108813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conta turno de verdade é on_llm_start — dispara uma vez por chamada real ao modelo.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Chamadas de ferramenta em paralelo (parallel_tool_calls, ligado por padrão) colam duas decisões num único turno — 2 tools chamadas não é sempre 2 turnos.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Moral: nunca assuma o que um hook mede sem checar a documentação — o nome sugere uma coisa, o comportamento é outro.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3931920"/>
            <a:ext cx="10881360" cy="822960"/>
          </a:xfrm>
          <a:prstGeom prst="roundRect">
            <a:avLst>
              <a:gd name="adj" fmla="val 6667"/>
            </a:avLst>
          </a:prstGeom>
          <a:solidFill>
            <a:srgbClr val="FFF6E5"/>
          </a:solidFill>
          <a:ln w="12700">
            <a:solidFill>
              <a:srgbClr val="D4AF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005072"/>
            <a:ext cx="105156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um exemplo seu mostrar sempre “turno 1” e nunca avançar, o hook usado pra contar é quase sempre o culpado — não o loop.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 de 41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686800" y="65379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Engenharia de Agent Loops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REAL · API + CONVERSÃO ENCADEADA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E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get_temperatura + converter_para_fahrenheit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10881360" cy="0"/>
          </a:xfrm>
          <a:prstGeom prst="line">
            <a:avLst/>
          </a:prstGeom>
          <a:noFill/>
          <a:ln w="19050">
            <a:solidFill>
              <a:srgbClr val="D4AF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373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linha do nosso código diz “primeiro chame X, depois Y” — quem decide a ordem, turno a turno, é o modelo, só seguindo a instrução em linguagem natural.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606040"/>
            <a:ext cx="10881360" cy="2743200"/>
          </a:xfrm>
          <a:prstGeom prst="roundRect">
            <a:avLst>
              <a:gd name="adj" fmla="val 2000"/>
            </a:avLst>
          </a:prstGeom>
          <a:solidFill>
            <a:srgbClr val="0E1220"/>
          </a:solidFill>
          <a:ln w="12700">
            <a:solidFill>
              <a:srgbClr val="2A31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697480"/>
            <a:ext cx="106070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requests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agents import Agent, Runner, RunHooks, function_tool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provedor import configurar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configurar()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@function_tool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get_temperatura(cidade: str) -&gt; float: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"""Retorna a temperatura atual (°C) de uma cidade.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Args: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cidade: nome da cidade (ex.: 'Brasília').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geo = requests.get(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"https://geocoding-api.open-meteo.com/v1/search",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 (continua no artifact interativo)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5394960"/>
            <a:ext cx="10881360" cy="822960"/>
          </a:xfrm>
          <a:prstGeom prst="roundRect">
            <a:avLst>
              <a:gd name="adj" fmla="val 6667"/>
            </a:avLst>
          </a:prstGeom>
          <a:solidFill>
            <a:srgbClr val="FFF6E5"/>
          </a:solidFill>
          <a:ln w="12700">
            <a:solidFill>
              <a:srgbClr val="D4AF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468112"/>
            <a:ext cx="105156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Rode e peça pra turma prever o nº de turnos antes de ver o resultado. Depois troque a pergunta por perguntas que não precisam de tool nenhuma ("se apresente rapidamente") e compare.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 de 41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686800" y="65379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Engenharia de Agent Loops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 &gt; PEDIDO DO USUÁRIO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E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regra que você escreve nas instructions vence o que o usuário pede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10881360" cy="0"/>
          </a:xfrm>
          <a:prstGeom prst="line">
            <a:avLst/>
          </a:prstGeom>
          <a:noFill/>
          <a:ln w="19050">
            <a:solidFill>
              <a:srgbClr val="D4AF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373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as instructions dizem "SEMPRE em Fahrenheit, nunca em Celsius", o modelo trata isso como regra fixa — mesmo que o usuário peça "em Celsius" explicitamente na mensagem. É o mesmo "manual de conduta vale mais que o pedido do cidadão" da Aula 1, agora em código.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2606040"/>
            <a:ext cx="108813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Instruções rígidas ("sempre Fahrenheit") + pedido "em Celsius" → responde em Fahrenheit mesmo assim, 2 turnos.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Instruções flexíveis ("respeite a unidade pedida") + pedido "em Celsius" → responde em Celsius, pula a ferramenta de conversão, 1 turno.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Instruções flexíveis + pergunta sem pedir unidade → converte pra Fahrenheit por padrão, 2 turnos.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3931920"/>
            <a:ext cx="10881360" cy="822960"/>
          </a:xfrm>
          <a:prstGeom prst="roundRect">
            <a:avLst>
              <a:gd name="adj" fmla="val 6667"/>
            </a:avLst>
          </a:prstGeom>
          <a:solidFill>
            <a:srgbClr val="FFF6E5"/>
          </a:solidFill>
          <a:ln w="12700">
            <a:solidFill>
              <a:srgbClr val="D4AF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005072"/>
            <a:ext cx="105156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número de turnos não é fixo no código — muda com a decisão do modelo a cada pergunta, e a decisão do modelo muda com o que está nas instructions.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 de 41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686800" y="65379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Engenharia de Agent Loops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 · O LOOP POR BAIXO DOS PANOS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E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Desafio · Clima completo: temperatura + vento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10881360" cy="0"/>
          </a:xfrm>
          <a:prstGeom prst="line">
            <a:avLst/>
          </a:prstGeom>
          <a:noFill/>
          <a:ln w="19050">
            <a:solidFill>
              <a:srgbClr val="D4AF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37360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F5E3C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37360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DESAFIO BLOQUEADO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108813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partir do agente de clima em Fahrenheit, acrescente uma segunda métrica: velocidade do vento (a mesma chamada à Open-Meteo devolve isso, bastando pedir </a:t>
            </a:r>
            <a:pPr indent="0" marL="0">
              <a:buNone/>
            </a:pPr>
            <a:r>
              <a:rPr lang="en-US" sz="1350" dirty="0">
                <a:solidFill>
                  <a:srgbClr val="D4A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wind_speed_10m</a:t>
            </a:r>
            <a:pPr indent="0" marL="0">
              <a:buNone/>
            </a:pPr>
            <a:r>
              <a:rPr lang="en-US" sz="13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junto de </a:t>
            </a:r>
            <a:pPr indent="0" marL="0">
              <a:buNone/>
            </a:pPr>
            <a:r>
              <a:rPr lang="en-US" sz="1350" dirty="0">
                <a:solidFill>
                  <a:srgbClr val="D4A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temperature_2m</a:t>
            </a:r>
            <a:pPr indent="0" marL="0">
              <a:buNone/>
            </a:pPr>
            <a:r>
              <a:rPr lang="en-US" sz="13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parâmetro </a:t>
            </a:r>
            <a:pPr indent="0" marL="0">
              <a:buNone/>
            </a:pPr>
            <a:r>
              <a:rPr lang="en-US" sz="1350" dirty="0">
                <a:solidFill>
                  <a:srgbClr val="D4A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current</a:t>
            </a:r>
            <a:pPr indent="0" marL="0">
              <a:buNone/>
            </a:pPr>
            <a:r>
              <a:rPr lang="en-US" sz="13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 Crie </a:t>
            </a:r>
            <a:pPr indent="0" marL="0">
              <a:buNone/>
            </a:pPr>
            <a:r>
              <a:rPr lang="en-US" sz="1350" dirty="0">
                <a:solidFill>
                  <a:srgbClr val="D4A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converter_para_mph(kmh)</a:t>
            </a:r>
            <a:pPr indent="0" marL="0">
              <a:buNone/>
            </a:pPr>
            <a:r>
              <a:rPr lang="en-US" sz="13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 km/h ≈ 0,621371 mph). As instruções devem ter duas regras de precedência diferentes: temperatura SEMPRE em Fahrenheit (fixa); vento em km/h por padrão, mas em mph se o usuário pedir explicitamente. Use </a:t>
            </a:r>
            <a:pPr indent="0" marL="0">
              <a:buNone/>
            </a:pPr>
            <a:r>
              <a:rPr lang="en-US" sz="1350" dirty="0">
                <a:solidFill>
                  <a:srgbClr val="D4A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on_llm_start</a:t>
            </a:r>
            <a:pPr indent="0" marL="0">
              <a:buNone/>
            </a:pPr>
            <a:r>
              <a:rPr lang="en-US" sz="13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pra contar turnos e rode: (a) "Qual o clima em Brasília?", (b) "...com o vento em mph?", (c) "...tudo em Celsius e km/h?" — anote quantos turnos cada uma usa e expliquem o resultado.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5623560"/>
            <a:ext cx="10881360" cy="594360"/>
          </a:xfrm>
          <a:prstGeom prst="roundRect">
            <a:avLst>
              <a:gd name="adj" fmla="val 9231"/>
            </a:avLst>
          </a:prstGeom>
          <a:solidFill>
            <a:srgbClr val="EFEFF4"/>
          </a:solidFill>
          <a:ln w="12700">
            <a:solidFill>
              <a:srgbClr val="D3D3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62356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 está protegida por senha — revele no artifact interativo (link no topo da aula).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 de 41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686800" y="65379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Engenharia de Agent Loops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E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Todos os hooks (on_*) disponíveis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10881360" cy="0"/>
          </a:xfrm>
          <a:prstGeom prst="line">
            <a:avLst/>
          </a:prstGeom>
          <a:noFill/>
          <a:ln w="19050">
            <a:solidFill>
              <a:srgbClr val="D4AF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37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</a:t>
            </a:r>
            <a:pPr indent="0" marL="0">
              <a:buNone/>
            </a:pPr>
            <a:r>
              <a:rPr lang="en-US" sz="1500" i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sensores fixados em pontos exatos do loop: eles não mudam o que o agente faz, só avisam quando cada evento acontece.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e auditoria: registrar cada chamada de ferramenta e cada resposta do modelo pra reconstruir depois o que o agente fez.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ao vivo do atendente: mostrar na tela “consultando sistema X…”, “transferindo para Y…”, sem mexer no fluxo do agente.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de custo/latência: medir tempo entre on_llm_start e on_llm_end pra saber quanto cada turno custou.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4251960"/>
            <a:ext cx="108813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3DCC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389120"/>
            <a:ext cx="10515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Existem </a:t>
            </a:r>
            <a:pPr indent="0" marL="0">
              <a:buNone/>
            </a:pPr>
            <a:r>
              <a:rPr lang="en-US" sz="125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famílias</a:t>
            </a:r>
            <a:pPr indent="0" marL="0">
              <a:buNone/>
            </a:pPr>
            <a:r>
              <a:rPr lang="en-US" sz="12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hooks, com nomes parecidos mas não idênticos: </a:t>
            </a:r>
            <a:pPr indent="0" marL="0">
              <a:buNone/>
            </a:pPr>
            <a:r>
              <a:rPr lang="en-US" sz="1250" dirty="0">
                <a:solidFill>
                  <a:srgbClr val="D4A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RunHooks</a:t>
            </a:r>
            <a:pPr indent="0" marL="0">
              <a:buNone/>
            </a:pPr>
            <a:r>
              <a:rPr lang="en-US" sz="12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(passado em </a:t>
            </a:r>
            <a:pPr indent="0" marL="0">
              <a:buNone/>
            </a:pPr>
            <a:r>
              <a:rPr lang="en-US" sz="1250" dirty="0">
                <a:solidFill>
                  <a:srgbClr val="D4A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hooks=</a:t>
            </a:r>
            <a:pPr indent="0" marL="0">
              <a:buNone/>
            </a:pPr>
            <a:r>
              <a:rPr lang="en-US" sz="12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</a:t>
            </a:r>
            <a:pPr indent="0" marL="0">
              <a:buNone/>
            </a:pPr>
            <a:r>
              <a:rPr lang="en-US" sz="1250" dirty="0">
                <a:solidFill>
                  <a:srgbClr val="D4A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Runner.run</a:t>
            </a:r>
            <a:pPr indent="0" marL="0">
              <a:buNone/>
            </a:pPr>
            <a:r>
              <a:rPr lang="en-US" sz="12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pPr indent="0" marL="0">
              <a:buNone/>
            </a:pPr>
            <a:r>
              <a:rPr lang="en-US" sz="1250" dirty="0">
                <a:solidFill>
                  <a:srgbClr val="D4A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run_sync</a:t>
            </a:r>
            <a:pPr indent="0" marL="0">
              <a:buNone/>
            </a:pPr>
            <a:r>
              <a:rPr lang="en-US" sz="12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vê o run inteiro, todos os agentes) e </a:t>
            </a:r>
            <a:pPr indent="0" marL="0">
              <a:buNone/>
            </a:pPr>
            <a:r>
              <a:rPr lang="en-US" sz="1250" dirty="0">
                <a:solidFill>
                  <a:srgbClr val="D4A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AgentHooks</a:t>
            </a:r>
            <a:pPr indent="0" marL="0">
              <a:buNone/>
            </a:pPr>
            <a:r>
              <a:rPr lang="en-US" sz="12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(setado em </a:t>
            </a:r>
            <a:pPr indent="0" marL="0">
              <a:buNone/>
            </a:pPr>
            <a:r>
              <a:rPr lang="en-US" sz="1250" dirty="0">
                <a:solidFill>
                  <a:srgbClr val="D4A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agent.hooks</a:t>
            </a:r>
            <a:pPr indent="0" marL="0">
              <a:buNone/>
            </a:pPr>
            <a:r>
              <a:rPr lang="en-US" sz="12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vê só aquele agente específico). As duas próximas telas mostram cada família por completo.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626364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Referência: SDK docs — Lifecycle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 de 41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686800" y="65379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Engenharia de Agent Loops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RUNHOOKS — HOOKS GLOBAIS DO RUN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E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hooks=... no Runner.run / run_sync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10881360" cy="0"/>
          </a:xfrm>
          <a:prstGeom prst="line">
            <a:avLst/>
          </a:prstGeom>
          <a:noFill/>
          <a:ln w="19050">
            <a:solidFill>
              <a:srgbClr val="D4AF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373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Passado uma vez pro Runner, enxerga o run inteiro — inclusive troca de agente por handoff.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2606040"/>
            <a:ext cx="108813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on_llm_start(ctx, agent, system_prompt, input_items) — disparado antes de CADA chamada ao modelo. É o contador de turno de verdade.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on_llm_end(ctx, agent, response) — logo depois da resposta do modelo voltar.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on_agent_start(ctx, agent) — disparado quando o agente ativo MUDA (início do run, ou logo após um handoff). Não é por turno.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on_agent_end(ctx, agent, output) — quando esse agente produz a saída final (antes de um possível handoff pro próximo).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on_handoff(ctx, from_agent, to_agent) — no momento exato da transferência entre agentes.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on_tool_start(ctx, agent, tool) — antes de uma ferramenta local ser chamada.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on_tool_end(ctx, agent, tool, result) — logo depois da ferramenta devolver o resultado.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5074920"/>
            <a:ext cx="10881360" cy="1371600"/>
          </a:xfrm>
          <a:prstGeom prst="roundRect">
            <a:avLst>
              <a:gd name="adj" fmla="val 4000"/>
            </a:avLst>
          </a:prstGeom>
          <a:solidFill>
            <a:srgbClr val="0E1220"/>
          </a:solidFill>
          <a:ln w="12700">
            <a:solidFill>
              <a:srgbClr val="2A31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5166360"/>
            <a:ext cx="10607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MeusRunHooks(RunHooks):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async def on_llm_start(self, ctx, agent, system_prompt, input_items): ...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async def on_llm_end(self, ctx, agent, response): ...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async def on_agent_start(self, ctx, agent): ...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async def on_agent_end(self, ctx, agent, output): ...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async def on_handoff(self, ctx, from_agent, to_agent): ...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 (continua no artifact interativo)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13 de 41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686800" y="65379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Engenharia de Agent Loops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AGENTHOOKS — HOOKS DE UM AGENTE ESPECÍFICO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E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agent.hooks = ... em cada Agent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10881360" cy="0"/>
          </a:xfrm>
          <a:prstGeom prst="line">
            <a:avLst/>
          </a:prstGeom>
          <a:noFill/>
          <a:ln w="19050">
            <a:solidFill>
              <a:srgbClr val="D4AF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373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ideia, mas amarrado a um agente só — útil quando cada especialista de um handoff precisa de um comportamento de log diferente. Repare: os nomes NÃO são idênticos aos do RunHooks.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2606040"/>
            <a:ext cx="1088136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on_start(ctx, agent) — atenção: aqui é on_start, não on_agent_start. Disparado quando ESTE agente passa a ser o ativo.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on_end(ctx, agent, output) — quando este agente produz a saída final.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on_handoff(ctx, agent, source) — disparado no agente que RECEBE o handoff; source é quem transferiu (parâmetros invertidos em relação ao on_handoff do RunHooks).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on_tool_start(ctx, agent, tool) / on_tool_end(ctx, agent, tool, result) — iguais em espírito ao RunHooks, só que restritos a este agente.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on_llm_start(...) / on_llm_end(...) — mesma assinatura do RunHooks, mesma ideia de contador de turno — só que só pra este agente.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4572000"/>
            <a:ext cx="10881360" cy="1371600"/>
          </a:xfrm>
          <a:prstGeom prst="roundRect">
            <a:avLst>
              <a:gd name="adj" fmla="val 4000"/>
            </a:avLst>
          </a:prstGeom>
          <a:solidFill>
            <a:srgbClr val="0E1220"/>
          </a:solidFill>
          <a:ln w="12700">
            <a:solidFill>
              <a:srgbClr val="2A31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4663440"/>
            <a:ext cx="10607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especialista = Agent(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name="Especialista_Matematica",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instructions="...",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especialista.hooks = MeusAgentHooks()   # só esse agente usa esses hooks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5394960"/>
            <a:ext cx="10881360" cy="822960"/>
          </a:xfrm>
          <a:prstGeom prst="roundRect">
            <a:avLst>
              <a:gd name="adj" fmla="val 6667"/>
            </a:avLst>
          </a:prstGeom>
          <a:solidFill>
            <a:srgbClr val="FFF6E5"/>
          </a:solidFill>
          <a:ln w="12700">
            <a:solidFill>
              <a:srgbClr val="D4AF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5468112"/>
            <a:ext cx="105156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Pegadinha clássica de prova: copiar um RunHooks pra dentro de agent.hooks e usar on_agent_start — não existe nesse contexto, o nome certo é on_start.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14 de 41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686800" y="65379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Engenharia de Agent Loops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JUNTANDO AS DUAS FAMÍLIAS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E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Ordem de disparo num turno com 1 ferramenta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10881360" cy="0"/>
          </a:xfrm>
          <a:prstGeom prst="line">
            <a:avLst/>
          </a:prstGeom>
          <a:noFill/>
          <a:ln w="19050">
            <a:solidFill>
              <a:srgbClr val="D4AF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373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RunHooks e AgentHooks disparam em paralelo, para o mesmo evento — a ordem entre as duas famílias é: RunHook primeiro, depois AgentHook (documentado pelo próprio SDK).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2606040"/>
            <a:ext cx="108813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on_agent_start (RunHooks) — início do run, agente ativo definido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on_llm_start (RunHooks + AgentHooks) — turno 1: antes de chamar o modelo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on_llm_end (RunHooks + AgentHooks) — modelo decidiu chamar uma ferramenta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on_tool_start (RunHooks + AgentHooks) — ferramenta sendo executada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on_tool_end (RunHooks + AgentHooks) — resultado da ferramenta pronto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on_llm_start (RunHooks + AgentHooks) — turno 2: modelo recebe o resultado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on_llm_end (RunHooks + AgentHooks) — modelo respondeu em texto puro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on_agent_end (RunHooks) — saída final produzida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5074920"/>
            <a:ext cx="10881360" cy="822960"/>
          </a:xfrm>
          <a:prstGeom prst="roundRect">
            <a:avLst>
              <a:gd name="adj" fmla="val 6667"/>
            </a:avLst>
          </a:prstGeom>
          <a:solidFill>
            <a:srgbClr val="FFF6E5"/>
          </a:solidFill>
          <a:ln w="12700">
            <a:solidFill>
              <a:srgbClr val="D4AF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148072"/>
            <a:ext cx="105156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handoff no meio, insere-se on_handoff entre o on_agent_end do agente de origem e o on_start/on_agent_start do agente de destino.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15 de 41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686800" y="65379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Engenharia de Agent Loops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E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Critérios de parada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10881360" cy="0"/>
          </a:xfrm>
          <a:prstGeom prst="line">
            <a:avLst/>
          </a:prstGeom>
          <a:noFill/>
          <a:ln w="19050">
            <a:solidFill>
              <a:srgbClr val="D4AF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37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formas diferentes de dizer "pare"</a:t>
            </a:r>
            <a:pPr indent="0" marL="0">
              <a:buNone/>
            </a:pPr>
            <a:r>
              <a:rPr lang="en-US" sz="1500" i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um funcionário: um limite rígido de tentativas, ele mesmo declarar "terminei", ou um prazo de parede que ninguém pode estourar.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sob controle: max_turns evita gastar tokens à toa numa pergunta mal-entendida que faria o agente tentar de novo indefinidamente.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em várias etapas: um loop EXTERNO chama o agente repetidas vezes (uma sessão acumulando contexto) até ele mesmo sinalizar, numa saída estruturada, que já reuniu o suficiente.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de atendimento: um prazo de parede garante que o atendimento nunca trava esperando o modelo ou uma ferramenta lenta além do razoável.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4251960"/>
            <a:ext cx="108813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3DCC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389120"/>
            <a:ext cx="10515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</a:t>
            </a:r>
            <a:pPr indent="0" marL="0">
              <a:buNone/>
            </a:pPr>
            <a:r>
              <a:rPr lang="en-US" sz="125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mecanismos diferentes</a:t>
            </a:r>
            <a:pPr indent="0" marL="0">
              <a:buNone/>
            </a:pPr>
            <a:r>
              <a:rPr lang="en-US" sz="12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 cada um resolve um problema diferente: (1) </a:t>
            </a:r>
            <a:pPr indent="0" marL="0">
              <a:buNone/>
            </a:pPr>
            <a:r>
              <a:rPr lang="en-US" sz="1250" dirty="0">
                <a:solidFill>
                  <a:srgbClr val="D4A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max_turns</a:t>
            </a:r>
            <a:pPr indent="0" marL="0">
              <a:buNone/>
            </a:pPr>
            <a:r>
              <a:rPr lang="en-US" sz="12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limite rígido de iterações do loop INTERNO do </a:t>
            </a:r>
            <a:pPr indent="0" marL="0">
              <a:buNone/>
            </a:pPr>
            <a:r>
              <a:rPr lang="en-US" sz="1250" dirty="0">
                <a:solidFill>
                  <a:srgbClr val="D4A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Runner</a:t>
            </a:r>
            <a:pPr indent="0" marL="0">
              <a:buNone/>
            </a:pPr>
            <a:r>
              <a:rPr lang="en-US" sz="12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já visto na Seção 1, dispara </a:t>
            </a:r>
            <a:pPr indent="0" marL="0">
              <a:buNone/>
            </a:pPr>
            <a:r>
              <a:rPr lang="en-US" sz="1250" dirty="0">
                <a:solidFill>
                  <a:srgbClr val="D4A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MaxTurnsExceeded</a:t>
            </a:r>
            <a:pPr indent="0" marL="0">
              <a:buNone/>
            </a:pPr>
            <a:r>
              <a:rPr lang="en-US" sz="12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(2) </a:t>
            </a:r>
            <a:pPr indent="0" marL="0">
              <a:buNone/>
            </a:pPr>
            <a:r>
              <a:rPr lang="en-US" sz="125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sucesso declarado</a:t>
            </a:r>
            <a:pPr indent="0" marL="0">
              <a:buNone/>
            </a:pPr>
            <a:r>
              <a:rPr lang="en-US" sz="12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um campo booleano no </a:t>
            </a:r>
            <a:pPr indent="0" marL="0">
              <a:buNone/>
            </a:pPr>
            <a:r>
              <a:rPr lang="en-US" sz="1250" dirty="0">
                <a:solidFill>
                  <a:srgbClr val="D4A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output_type</a:t>
            </a:r>
            <a:pPr indent="0" marL="0">
              <a:buNone/>
            </a:pPr>
            <a:r>
              <a:rPr lang="en-US" sz="12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o próprio agente preenche, checado por um loop EXTERNO ao </a:t>
            </a:r>
            <a:pPr indent="0" marL="0">
              <a:buNone/>
            </a:pPr>
            <a:r>
              <a:rPr lang="en-US" sz="1250" dirty="0">
                <a:solidFill>
                  <a:srgbClr val="D4A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Runner</a:t>
            </a:r>
            <a:pPr indent="0" marL="0">
              <a:buNone/>
            </a:pPr>
            <a:r>
              <a:rPr lang="en-US" sz="12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(você escreve esse </a:t>
            </a:r>
            <a:pPr indent="0" marL="0">
              <a:buNone/>
            </a:pPr>
            <a:r>
              <a:rPr lang="en-US" sz="1250" dirty="0">
                <a:solidFill>
                  <a:srgbClr val="D4A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12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pPr indent="0" marL="0">
              <a:buNone/>
            </a:pPr>
            <a:r>
              <a:rPr lang="en-US" sz="1250" dirty="0">
                <a:solidFill>
                  <a:srgbClr val="D4A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pPr indent="0" marL="0">
              <a:buNone/>
            </a:pPr>
            <a:r>
              <a:rPr lang="en-US" sz="12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); (3) </a:t>
            </a:r>
            <a:pPr indent="0" marL="0">
              <a:buNone/>
            </a:pPr>
            <a:r>
              <a:rPr lang="en-US" sz="125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 de parede</a:t>
            </a:r>
            <a:pPr indent="0" marL="0">
              <a:buNone/>
            </a:pPr>
            <a:r>
              <a:rPr lang="en-US" sz="12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um prazo em segundos, implementado com </a:t>
            </a:r>
            <a:pPr indent="0" marL="0">
              <a:buNone/>
            </a:pPr>
            <a:r>
              <a:rPr lang="en-US" sz="1250" dirty="0">
                <a:solidFill>
                  <a:srgbClr val="D4A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asyncio.wait_for</a:t>
            </a:r>
            <a:pPr indent="0" marL="0">
              <a:buNone/>
            </a:pPr>
            <a:r>
              <a:rPr lang="en-US" sz="12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por fora do </a:t>
            </a:r>
            <a:pPr indent="0" marL="0">
              <a:buNone/>
            </a:pPr>
            <a:r>
              <a:rPr lang="en-US" sz="1250" dirty="0">
                <a:solidFill>
                  <a:srgbClr val="D4A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Runner.run</a:t>
            </a:r>
            <a:pPr indent="0" marL="0">
              <a:buNone/>
            </a:pPr>
            <a:r>
              <a:rPr lang="en-US" sz="12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626364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Referência: SDK docs — Running agents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16 de 41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686800" y="65379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Engenharia de Agent Loops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· CRITÉRIOS DE PARADA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E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Sucesso declarado — loop externo com output_type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10881360" cy="0"/>
          </a:xfrm>
          <a:prstGeom prst="line">
            <a:avLst/>
          </a:prstGeom>
          <a:noFill/>
          <a:ln w="19050">
            <a:solidFill>
              <a:srgbClr val="D4AF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373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Diferente do max_turns (que limita o loop DE DENTRO do Runner), aqui um loop por FORA chama Runner.run_sync várias vezes, e é o próprio agente — via um campo booleano na saída estruturada — quem decide quando já tem informação suficiente.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60604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E9EEF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60604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B4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ABERTO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40080" y="3017520"/>
            <a:ext cx="10881360" cy="3246120"/>
          </a:xfrm>
          <a:prstGeom prst="roundRect">
            <a:avLst>
              <a:gd name="adj" fmla="val 1690"/>
            </a:avLst>
          </a:prstGeom>
          <a:solidFill>
            <a:srgbClr val="0E1220"/>
          </a:solidFill>
          <a:ln w="12700">
            <a:solidFill>
              <a:srgbClr val="2A31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108960"/>
            <a:ext cx="1060704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pydantic import BaseModel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agents import Agent, Runner, SQLiteSession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StatusInvestigacao(____):        # ← de qual classe herda um output_type?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resumo: str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concluido: bool                    # ← o próprio agente decide se já tem o bastante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agente = Agent(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name="Investigador",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instructions=(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"Você está reunindo informações sobre um caso aos poucos, uma mensagem por vez. "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"A cada rodada, resuma o que já sabe e marque concluido=True quando achar que já tem "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"pelo menos nome, local e data do caso."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),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____=StatusInvestigacao,           # ← qual parâmetro do Agent força esse formato de saída?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investigar(mensagens_do_usuario: list[str], max_rodadas: int = 5):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 (continua no artifact interativo)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17 de 41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686800" y="65379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Engenharia de Agent Loops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· CRITÉRIOS DE PARADA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E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Desafio · confirmação dupla antes de parar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10881360" cy="0"/>
          </a:xfrm>
          <a:prstGeom prst="line">
            <a:avLst/>
          </a:prstGeom>
          <a:noFill/>
          <a:ln w="19050">
            <a:solidFill>
              <a:srgbClr val="D4AF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37360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F5E3C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37360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DESAFIO BLOQUEADO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108813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3.1 parava assim que </a:t>
            </a:r>
            <a:pPr indent="0" marL="0">
              <a:buNone/>
            </a:pPr>
            <a:r>
              <a:rPr lang="en-US" sz="1350" dirty="0">
                <a:solidFill>
                  <a:srgbClr val="D4A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concluido=True</a:t>
            </a:r>
            <a:pPr indent="0" marL="0">
              <a:buNone/>
            </a:pPr>
            <a:r>
              <a:rPr lang="en-US" sz="13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aparecia uma única vez — o que pode ser cedo demais, como vimos. Altere </a:t>
            </a:r>
            <a:pPr indent="0" marL="0">
              <a:buNone/>
            </a:pPr>
            <a:r>
              <a:rPr lang="en-US" sz="1350" dirty="0">
                <a:solidFill>
                  <a:srgbClr val="D4A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investigar()</a:t>
            </a:r>
            <a:pPr indent="0" marL="0">
              <a:buNone/>
            </a:pPr>
            <a:r>
              <a:rPr lang="en-US" sz="13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pra só parar quando </a:t>
            </a:r>
            <a:pPr indent="0" marL="0">
              <a:buNone/>
            </a:pPr>
            <a:r>
              <a:rPr lang="en-US" sz="1350" dirty="0">
                <a:solidFill>
                  <a:srgbClr val="D4A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concluido=True</a:t>
            </a:r>
            <a:pPr indent="0" marL="0">
              <a:buNone/>
            </a:pPr>
            <a:r>
              <a:rPr lang="en-US" sz="13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aparecer em </a:t>
            </a:r>
            <a:pPr indent="0" marL="0">
              <a:buNone/>
            </a:pPr>
            <a:r>
              <a:rPr lang="en-US" sz="135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rodadas seguidas</a:t>
            </a:r>
            <a:pPr indent="0" marL="0">
              <a:buNone/>
            </a:pPr>
            <a:r>
              <a:rPr lang="en-US" sz="13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(qualquer </a:t>
            </a:r>
            <a:pPr indent="0" marL="0">
              <a:buNone/>
            </a:pPr>
            <a:r>
              <a:rPr lang="en-US" sz="1350" dirty="0">
                <a:solidFill>
                  <a:srgbClr val="D4A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indent="0" marL="0">
              <a:buNone/>
            </a:pPr>
            <a:r>
              <a:rPr lang="en-US" sz="13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meio zera essa contagem). Teste com a mesma lista de mensagens do 3.1, mas acrescentando uma correção de data DEPOIS do nome da vítima — o loop deve continuar rodando, capturar a correção, e só então confirmar o fim.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5623560"/>
            <a:ext cx="10881360" cy="594360"/>
          </a:xfrm>
          <a:prstGeom prst="roundRect">
            <a:avLst>
              <a:gd name="adj" fmla="val 9231"/>
            </a:avLst>
          </a:prstGeom>
          <a:solidFill>
            <a:srgbClr val="EFEFF4"/>
          </a:solidFill>
          <a:ln w="12700">
            <a:solidFill>
              <a:srgbClr val="D3D3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62356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 está protegida por senha — revele no artifact interativo (link no topo da aula).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18 de 41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686800" y="65379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Engenharia de Agent Loops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· CRITÉRIOS DE PARADA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E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Desafio · timeout de parede com asyncio.wait_for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10881360" cy="0"/>
          </a:xfrm>
          <a:prstGeom prst="line">
            <a:avLst/>
          </a:prstGeom>
          <a:noFill/>
          <a:ln w="19050">
            <a:solidFill>
              <a:srgbClr val="D4AF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37360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F5E3C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37360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DESAFIO BLOQUEADO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108813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 uma função assíncrona que rode um agente com um limite de N segundos de parede, usando </a:t>
            </a:r>
            <a:pPr indent="0" marL="0">
              <a:buNone/>
            </a:pPr>
            <a:r>
              <a:rPr lang="en-US" sz="1350" dirty="0">
                <a:solidFill>
                  <a:srgbClr val="D4A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asyncio.wait_for</a:t>
            </a:r>
            <a:pPr indent="0" marL="0">
              <a:buNone/>
            </a:pPr>
            <a:r>
              <a:rPr lang="en-US" sz="13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em cima de </a:t>
            </a:r>
            <a:pPr indent="0" marL="0">
              <a:buNone/>
            </a:pPr>
            <a:r>
              <a:rPr lang="en-US" sz="1350" dirty="0">
                <a:solidFill>
                  <a:srgbClr val="D4A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Runner.run</a:t>
            </a:r>
            <a:pPr indent="0" marL="0">
              <a:buNone/>
            </a:pPr>
            <a:r>
              <a:rPr lang="en-US" sz="13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 versão assíncrona — </a:t>
            </a:r>
            <a:pPr indent="0" marL="0">
              <a:buNone/>
            </a:pPr>
            <a:r>
              <a:rPr lang="en-US" sz="1350" dirty="0">
                <a:solidFill>
                  <a:srgbClr val="D4A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run_sync</a:t>
            </a:r>
            <a:pPr indent="0" marL="0">
              <a:buNone/>
            </a:pPr>
            <a:r>
              <a:rPr lang="en-US" sz="13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não serve aqui). A ferramenta do agente deve ser lenta de propósito (</a:t>
            </a:r>
            <a:pPr indent="0" marL="0">
              <a:buNone/>
            </a:pPr>
            <a:r>
              <a:rPr lang="en-US" sz="1350" dirty="0">
                <a:solidFill>
                  <a:srgbClr val="D4A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asyncio.sleep(5)</a:t>
            </a:r>
            <a:pPr indent="0" marL="0">
              <a:buNone/>
            </a:pPr>
            <a:r>
              <a:rPr lang="en-US" sz="13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dentro dela). Trate </a:t>
            </a:r>
            <a:pPr indent="0" marL="0">
              <a:buNone/>
            </a:pPr>
            <a:r>
              <a:rPr lang="en-US" sz="1350" dirty="0">
                <a:solidFill>
                  <a:srgbClr val="D4A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asyncio.TimeoutError</a:t>
            </a:r>
            <a:pPr indent="0" marL="0">
              <a:buNone/>
            </a:pPr>
            <a:r>
              <a:rPr lang="en-US" sz="13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separadamente de </a:t>
            </a:r>
            <a:pPr indent="0" marL="0">
              <a:buNone/>
            </a:pPr>
            <a:r>
              <a:rPr lang="en-US" sz="1350" dirty="0">
                <a:solidFill>
                  <a:srgbClr val="D4A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MaxTurnsExceeded</a:t>
            </a:r>
            <a:pPr indent="0" marL="0">
              <a:buNone/>
            </a:pPr>
            <a:r>
              <a:rPr lang="en-US" sz="13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com uma mensagem diferente pra cada caso — são dois motivos de falha completamente distintos. Teste uma vez com um timeout curto (estoura) e uma vez com um timeout longo (funciona normalmente).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5623560"/>
            <a:ext cx="10881360" cy="594360"/>
          </a:xfrm>
          <a:prstGeom prst="roundRect">
            <a:avLst>
              <a:gd name="adj" fmla="val 9231"/>
            </a:avLst>
          </a:prstGeom>
          <a:solidFill>
            <a:srgbClr val="EFEFF4"/>
          </a:solidFill>
          <a:ln w="12700">
            <a:solidFill>
              <a:srgbClr val="D3D3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62356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 está protegida por senha — revele no artifact interativo (link no topo da aula).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19 de 41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686800" y="65379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Engenharia de Agent Loops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TRÊS CRITÉRIOS LADO A LADO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E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 problema diferente para cada mecanismo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10881360" cy="0"/>
          </a:xfrm>
          <a:prstGeom prst="line">
            <a:avLst/>
          </a:prstGeom>
          <a:noFill/>
          <a:ln w="19050">
            <a:solidFill>
              <a:srgbClr val="D4AF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37360"/>
            <a:ext cx="108813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max_turns — dentro do Runner, conta iterações do loop interno, dispara MaxTurnsExceeded. Resolve: "o agente está preso repetindo ferramenta".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Sucesso declarado — fora do Runner, um loop seu chama Runner.run repetidas vezes checando um campo do output_type. Resolve: "uma tarefa que precisa de várias interações separadas com o usuário".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 de parede (asyncio.wait_for) — por fora, não embutido no SDK. Resolve: "uma ferramenta ou o próprio modelo está demorando tempo real demais, não importa quantos turnos isso levou".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3063240"/>
            <a:ext cx="10881360" cy="822960"/>
          </a:xfrm>
          <a:prstGeom prst="roundRect">
            <a:avLst>
              <a:gd name="adj" fmla="val 6667"/>
            </a:avLst>
          </a:prstGeom>
          <a:solidFill>
            <a:srgbClr val="FFF6E5"/>
          </a:solidFill>
          <a:ln w="12700">
            <a:solidFill>
              <a:srgbClr val="D4AF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136392"/>
            <a:ext cx="105156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Pegadinha de prova: MaxTurnsExceeded e asyncio.TimeoutError parecem a mesma coisa ("o agente não terminou"), mas são causas diferentes — turnos versus tempo real — e cada um pede um tratamento diferente.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20 de 41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686800" y="65379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Engenharia de Agent Loops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E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Retries e resiliência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10881360" cy="0"/>
          </a:xfrm>
          <a:prstGeom prst="line">
            <a:avLst/>
          </a:prstGeom>
          <a:noFill/>
          <a:ln w="19050">
            <a:solidFill>
              <a:srgbClr val="D4AF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37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 que falha</a:t>
            </a:r>
            <a:pPr indent="0" marL="0">
              <a:buNone/>
            </a:pPr>
            <a:r>
              <a:rPr lang="en-US" sz="1500" i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como um telefone que não atende: desligar na hora não resolve nada, mas discar sem parar também não. É preciso uma estratégia — esperar um pouco mais a cada tentativa, e nunca fazer a mesma ação duas vezes com efeito colateral duplicado.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externa instável: Open-Meteo ou BrasilAPI fora do ar por alguns segundos — retry com backoff evita desistir cedo demais e evita bombardear um serviço já sobrecarregado.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ocorrência (escrita): se a tentativa 1 já gravou mas a resposta se perdeu por timeout, tentar de novo sem controle duplica o registro — aqui entra idempotência, não só retry.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de negócio vs. falha transitória: "cidade não encontrada" não melhora tentando de novo; "timeout de rede" pode melhorar. Tratar os dois do mesmo jeito é um erro comum.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4251960"/>
            <a:ext cx="108813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3DCC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389120"/>
            <a:ext cx="10515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com backoff exponencial</a:t>
            </a:r>
            <a:pPr indent="0" marL="0">
              <a:buNone/>
            </a:pPr>
            <a:r>
              <a:rPr lang="en-US" sz="12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ao falhar, espera um tempo que cresce a cada tentativa (0.5s, 1s, 2s, 4s...) antes de tentar de novo — dá tempo do sistema externo se recuperar, em vez de martelar ele. </a:t>
            </a:r>
            <a:pPr indent="0" marL="0">
              <a:buNone/>
            </a:pPr>
            <a:r>
              <a:rPr lang="en-US" sz="125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Idempotência</a:t>
            </a:r>
            <a:pPr indent="0" marL="0">
              <a:buNone/>
            </a:pPr>
            <a:r>
              <a:rPr lang="en-US" sz="12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garantir que executar a mesma ação duas vezes (por causa de um retry, ou de um pedido repetido) produz o MESMO resultado final, sem duplicar efeito colateral — normalmente feito com uma chave que identifica exclusivamente aquela operação.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626364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Referência: SDK docs — Tools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21 de 41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686800" y="65379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Engenharia de Agent Loops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· RETRIES E RESILIÊNCIA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E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Retry manual com backoff exponencial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10881360" cy="0"/>
          </a:xfrm>
          <a:prstGeom prst="line">
            <a:avLst/>
          </a:prstGeom>
          <a:noFill/>
          <a:ln w="19050">
            <a:solidFill>
              <a:srgbClr val="D4AF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373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ferramenta continua sendo uma função Python comum — o retry é só um for por dentro dela. O modelo nem sabe que houve tentativas: só vê o resultado final, ou o erro, se todas as tentativas falharem.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60604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E9EEF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60604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B4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ABERTO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40080" y="3017520"/>
            <a:ext cx="10881360" cy="3246120"/>
          </a:xfrm>
          <a:prstGeom prst="roundRect">
            <a:avLst>
              <a:gd name="adj" fmla="val 1690"/>
            </a:avLst>
          </a:prstGeom>
          <a:solidFill>
            <a:srgbClr val="0E1220"/>
          </a:solidFill>
          <a:ln w="12700">
            <a:solidFill>
              <a:srgbClr val="2A31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108960"/>
            <a:ext cx="1060704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time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requests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agents import Agent, Runner, function_tool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@function_tool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get_temperatura_resiliente(cidade: str, max_tentativas: int = 4) -&gt; float: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"""Retorna a temperatura atual (°C) de uma cidade, com retry e backoff exponencial."""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espera_base = 0.5  # segundos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tentativa in range(1, max_tentativas + 1):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try: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geo = requests.get(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"https://geocoding-api.open-meteo.com/v1/search",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params={"name": cidade, "count": 1, "language": "pt", "format": "json"},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timeout=3,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)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geo.raise_for_status()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dados_geo = geo.json()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 (continua no artifact interativo)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22 de 41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686800" y="65379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Engenharia de Agent Loops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SEM IDEMPOTÊNCIA É PERIGOSO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E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Repetir uma LEITURA é seguro; repetir uma ESCRITA nem sempre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10881360" cy="0"/>
          </a:xfrm>
          <a:prstGeom prst="line">
            <a:avLst/>
          </a:prstGeom>
          <a:noFill/>
          <a:ln w="19050">
            <a:solidFill>
              <a:srgbClr val="D4AF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373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 a temperatura duas vezes não causa dano — o segundo resultado só substitui o primeiro. Mas registrar uma ocorrência, disparar um ofício ou enviar uma notificação duas vezes JÁ causa dano: duplica um efeito que deveria acontecer uma única vez.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606040"/>
            <a:ext cx="10881360" cy="822960"/>
          </a:xfrm>
          <a:prstGeom prst="roundRect">
            <a:avLst>
              <a:gd name="adj" fmla="val 6667"/>
            </a:avLst>
          </a:prstGeom>
          <a:solidFill>
            <a:srgbClr val="FFF6E5"/>
          </a:solidFill>
          <a:ln w="12700">
            <a:solidFill>
              <a:srgbClr val="D4AF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679192"/>
            <a:ext cx="105156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colocar retry numa ferramenta que ESCREVE em algum sistema, pergunte: "o que acontece se essa função rodar duas vezes com os mesmos argumentos?" Se a resposta for "duplica algo", a ferramenta precisa de uma chave de idempotência antes do retry.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23 de 41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686800" y="65379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Engenharia de Agent Loops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· RETRIES E RESILIÊNCIA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E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Desafio · idempotência ao registrar uma ocorrência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10881360" cy="0"/>
          </a:xfrm>
          <a:prstGeom prst="line">
            <a:avLst/>
          </a:prstGeom>
          <a:noFill/>
          <a:ln w="19050">
            <a:solidFill>
              <a:srgbClr val="D4AF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37360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F5E3C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37360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DESAFIO BLOQUEADO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108813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uma ferramenta </a:t>
            </a:r>
            <a:pPr indent="0" marL="0">
              <a:buNone/>
            </a:pPr>
            <a:r>
              <a:rPr lang="en-US" sz="1350" dirty="0">
                <a:solidFill>
                  <a:srgbClr val="D4A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registrar_ocorrencia(tipo, local, data)</a:t>
            </a:r>
            <a:pPr indent="0" marL="0">
              <a:buNone/>
            </a:pPr>
            <a:r>
              <a:rPr lang="en-US" sz="13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simule gravar num "banco" (um dicionário em memória). Gere uma chave de idempotência a partir de um hash dos três campos (mesmos dados = mesma chave). Se a chave já existir no "banco", devolva uma mensagem dizendo que já foi registrada, SEM criar um novo registro. Rode o agente duas vezes pedindo pra registrar a MESMA ocorrência (simulando um retry ou um pedido repetido por precaução) e confirme, ao final, que o "banco" tem só 1 registro — não 2.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5623560"/>
            <a:ext cx="10881360" cy="594360"/>
          </a:xfrm>
          <a:prstGeom prst="roundRect">
            <a:avLst>
              <a:gd name="adj" fmla="val 9231"/>
            </a:avLst>
          </a:prstGeom>
          <a:solidFill>
            <a:srgbClr val="EFEFF4"/>
          </a:solidFill>
          <a:ln w="12700">
            <a:solidFill>
              <a:srgbClr val="D3D3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62356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 está protegida por senha — revele no artifact interativo (link no topo da aula).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24 de 41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686800" y="65379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Engenharia de Agent Loops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NÃO TEM RELÓGIO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E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Injetando a data real nas instructions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10881360" cy="0"/>
          </a:xfrm>
          <a:prstGeom prst="line">
            <a:avLst/>
          </a:prstGeom>
          <a:noFill/>
          <a:ln w="19050">
            <a:solidFill>
              <a:srgbClr val="D4AF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373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uma fonte externa de tempo, o modelo não sabe que dia é hoje — ele só tem os padrões aprendidos no treinamento, e "hoje" vira um palpite, não um fato. A correção não é pedir pro modelo saber; é você entregar o dado real.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606040"/>
            <a:ext cx="10881360" cy="2743200"/>
          </a:xfrm>
          <a:prstGeom prst="roundRect">
            <a:avLst>
              <a:gd name="adj" fmla="val 2000"/>
            </a:avLst>
          </a:prstGeom>
          <a:solidFill>
            <a:srgbClr val="0E1220"/>
          </a:solidFill>
          <a:ln w="12700">
            <a:solidFill>
              <a:srgbClr val="2A31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697480"/>
            <a:ext cx="106070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datetime import date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agents import Agent, Runner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DIAS_PT = ["segunda-feira", "terça-feira", "quarta-feira", "quinta-feira",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"sexta-feira", "sábado", "domingo"]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--- versão ingênua: o modelo tem que ADIVINHAR a data ---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agente_ruim = Agent(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name="Assistente",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instructions="Responda as perguntas do usuário.",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Runner.run_sync(agente_ruim, "Que dia da semana é hoje?")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resposta plausível, mas baseada em nada real — o modelo não tem relógio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 (continua no artifact interativo)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5394960"/>
            <a:ext cx="10881360" cy="822960"/>
          </a:xfrm>
          <a:prstGeom prst="roundRect">
            <a:avLst>
              <a:gd name="adj" fmla="val 6667"/>
            </a:avLst>
          </a:prstGeom>
          <a:solidFill>
            <a:srgbClr val="FFF6E5"/>
          </a:solidFill>
          <a:ln w="12700">
            <a:solidFill>
              <a:srgbClr val="D4AF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468112"/>
            <a:ext cx="105156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 pra qualquer coisa que dependa do momento em que o agente está rodando — data, hora, dia da semana, feriado. Nunca assuma que é "óbvio" pro modelo: injete via instructions (como aqui) ou via uma ferramenta (ex.: consultar_data_hoje()).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25 de 41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686800" y="65379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Engenharia de Agent Loops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NÃO TEM COTAÇÃO EM TEMPO REAL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E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Injetando o dado real por uma ferramenta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10881360" cy="0"/>
          </a:xfrm>
          <a:prstGeom prst="line">
            <a:avLst/>
          </a:prstGeom>
          <a:noFill/>
          <a:ln w="19050">
            <a:solidFill>
              <a:srgbClr val="D4AF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373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Diferente da data (que dá pra calcular em Python e injetar direto nas instructions), uma cotação de câmbio muda a cada minuto e vem de fora do seu código — por isso aqui a correção é uma FERRAMENTA que consulta uma fonte real, não um valor calculado.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606040"/>
            <a:ext cx="10881360" cy="2743200"/>
          </a:xfrm>
          <a:prstGeom prst="roundRect">
            <a:avLst>
              <a:gd name="adj" fmla="val 2000"/>
            </a:avLst>
          </a:prstGeom>
          <a:solidFill>
            <a:srgbClr val="0E1220"/>
          </a:solidFill>
          <a:ln w="12700">
            <a:solidFill>
              <a:srgbClr val="2A31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697480"/>
            <a:ext cx="106070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requests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agents import Agent, Runner, function_tool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--- versão ingênua: pergunta direto pro modelo, sem nenhuma fonte real ---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agente_ruim = Agent(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name="Assistente Financeiro",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instructions="Responda as perguntas do usuário sobre câmbio.",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resultado_ruim = Runner.run_sync(agente_ruim, "Quanto está o dólar em reais hoje?")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print(resultado_ruim.final_output)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saída de exemplo: "O dólar está cotado em aproximadamente R$ 5,00 hoje."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(número plausível, mas "congelado" no tempo do treinamento — pode estar bem defasado)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--- versão corrigida: uma ferramenta consulta a cotação REAL, agora ---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 (continua no artifact interativo)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5394960"/>
            <a:ext cx="10881360" cy="822960"/>
          </a:xfrm>
          <a:prstGeom prst="roundRect">
            <a:avLst>
              <a:gd name="adj" fmla="val 6667"/>
            </a:avLst>
          </a:prstGeom>
          <a:solidFill>
            <a:srgbClr val="FFF6E5"/>
          </a:solidFill>
          <a:ln w="12700">
            <a:solidFill>
              <a:srgbClr val="D4AF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468112"/>
            <a:ext cx="105156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financeiros são o caso mais perigoso desse problema: o modelo responde com a MESMA confiança tanto pro valor real quanto pro valor inventado — nada na resposta avisa qual dos dois você recebeu. Datas ao menos têm cara de "óbvio errado" às vezes; cotação errada passa despercebida com muito mais facilidade.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26 de 41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686800" y="65379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Engenharia de Agent Loops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 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E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Autonomia e freio humano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10881360" cy="0"/>
          </a:xfrm>
          <a:prstGeom prst="line">
            <a:avLst/>
          </a:prstGeom>
          <a:noFill/>
          <a:ln w="19050">
            <a:solidFill>
              <a:srgbClr val="D4AF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37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freio humano</a:t>
            </a:r>
            <a:pPr indent="0" marL="0">
              <a:buNone/>
            </a:pPr>
            <a:r>
              <a:rPr lang="en-US" sz="1500" i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um caixa que pode preparar um estorno, mas precisa da chave do supervisor antes da gaveta abrir de verdade. needs_approval faz literalmente isso: pausa a execução até alguém decidir.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Cancelar ou apagar um registro: ação destrutiva — sempre pausa pra aprovação, não importa o argumento.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Enviar comunicação institucional: aprovação CONDICIONAL — só pausa se o conteúdo for sensível (ex.: menciona "urgente", "reembolso", dado de terceiro).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 dados: leitura não precisa de aprovação nenhuma — o freio é só pra ação que tem efeito consequente.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4251960"/>
            <a:ext cx="108813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3DCC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389120"/>
            <a:ext cx="10515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SDK tem suporte NATIVO a esse padrão — não é algo que se escreve à mão. Uma tool marcada com </a:t>
            </a:r>
            <a:pPr indent="0" marL="0">
              <a:buNone/>
            </a:pPr>
            <a:r>
              <a:rPr lang="en-US" sz="1250" dirty="0">
                <a:solidFill>
                  <a:srgbClr val="D4A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needs_approval=True</a:t>
            </a:r>
            <a:pPr indent="0" marL="0">
              <a:buNone/>
            </a:pPr>
            <a:r>
              <a:rPr lang="en-US" sz="12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(ou uma função que decide por chamada) pausa a execução assim que o modelo tenta usá-la. O </a:t>
            </a:r>
            <a:pPr indent="0" marL="0">
              <a:buNone/>
            </a:pPr>
            <a:r>
              <a:rPr lang="en-US" sz="1250" dirty="0">
                <a:solidFill>
                  <a:srgbClr val="D4A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RunResult</a:t>
            </a:r>
            <a:pPr indent="0" marL="0">
              <a:buNone/>
            </a:pPr>
            <a:r>
              <a:rPr lang="en-US" sz="12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devolve essa pausa em </a:t>
            </a:r>
            <a:pPr indent="0" marL="0">
              <a:buNone/>
            </a:pPr>
            <a:r>
              <a:rPr lang="en-US" sz="1250" dirty="0">
                <a:solidFill>
                  <a:srgbClr val="D4A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resultado.interruptions</a:t>
            </a:r>
            <a:pPr indent="0" marL="0">
              <a:buNone/>
            </a:pPr>
            <a:r>
              <a:rPr lang="en-US" sz="12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uma lista de </a:t>
            </a:r>
            <a:pPr indent="0" marL="0">
              <a:buNone/>
            </a:pPr>
            <a:r>
              <a:rPr lang="en-US" sz="1250" dirty="0">
                <a:solidFill>
                  <a:srgbClr val="D4A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ToolApprovalItem</a:t>
            </a:r>
            <a:pPr indent="0" marL="0">
              <a:buNone/>
            </a:pPr>
            <a:r>
              <a:rPr lang="en-US" sz="12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Você converte o resultado em </a:t>
            </a:r>
            <a:pPr indent="0" marL="0">
              <a:buNone/>
            </a:pPr>
            <a:r>
              <a:rPr lang="en-US" sz="1250" dirty="0">
                <a:solidFill>
                  <a:srgbClr val="D4A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RunState</a:t>
            </a:r>
            <a:pPr indent="0" marL="0">
              <a:buNone/>
            </a:pPr>
            <a:r>
              <a:rPr lang="en-US" sz="12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pPr indent="0" marL="0">
              <a:buNone/>
            </a:pPr>
            <a:r>
              <a:rPr lang="en-US" sz="1250" dirty="0">
                <a:solidFill>
                  <a:srgbClr val="D4A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resultado.to_state()</a:t>
            </a:r>
            <a:pPr indent="0" marL="0">
              <a:buNone/>
            </a:pPr>
            <a:r>
              <a:rPr lang="en-US" sz="12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chama </a:t>
            </a:r>
            <a:pPr indent="0" marL="0">
              <a:buNone/>
            </a:pPr>
            <a:r>
              <a:rPr lang="en-US" sz="1250" dirty="0">
                <a:solidFill>
                  <a:srgbClr val="D4A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estado.approve(pendencia)</a:t>
            </a:r>
            <a:pPr indent="0" marL="0">
              <a:buNone/>
            </a:pPr>
            <a:r>
              <a:rPr lang="en-US" sz="12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ou </a:t>
            </a:r>
            <a:pPr indent="0" marL="0">
              <a:buNone/>
            </a:pPr>
            <a:r>
              <a:rPr lang="en-US" sz="1250" dirty="0">
                <a:solidFill>
                  <a:srgbClr val="D4A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estado.reject(pendencia)</a:t>
            </a:r>
            <a:pPr indent="0" marL="0">
              <a:buNone/>
            </a:pPr>
            <a:r>
              <a:rPr lang="en-US" sz="12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 retoma com </a:t>
            </a:r>
            <a:pPr indent="0" marL="0">
              <a:buNone/>
            </a:pPr>
            <a:r>
              <a:rPr lang="en-US" sz="1250" dirty="0">
                <a:solidFill>
                  <a:srgbClr val="D4A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Runner.run(agente, estado)</a:t>
            </a:r>
            <a:pPr indent="0" marL="0">
              <a:buNone/>
            </a:pPr>
            <a:r>
              <a:rPr lang="en-US" sz="12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 run continua exatamente de onde parou.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626364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Referência: SDK docs — Human-in-the-loop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27 de 41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686800" y="65379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Engenharia de Agent Loops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 · AUTONOMIA E FREIO HUMANO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E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needs_approval=True — pausa sempre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10881360" cy="0"/>
          </a:xfrm>
          <a:prstGeom prst="line">
            <a:avLst/>
          </a:prstGeom>
          <a:noFill/>
          <a:ln w="19050">
            <a:solidFill>
              <a:srgbClr val="D4AF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373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ferramenta continua sendo uma função comum — needs_approval é só um parâmetro a mais no decorator. O loop while resultado.interruptions é o "laço de aprovação": ele só continua rodando enquanto houver pendência.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60604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E9EEF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60604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B4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ABERTO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40080" y="3017520"/>
            <a:ext cx="10881360" cy="3246120"/>
          </a:xfrm>
          <a:prstGeom prst="roundRect">
            <a:avLst>
              <a:gd name="adj" fmla="val 1690"/>
            </a:avLst>
          </a:prstGeom>
          <a:solidFill>
            <a:srgbClr val="0E1220"/>
          </a:solidFill>
          <a:ln w="12700">
            <a:solidFill>
              <a:srgbClr val="2A31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108960"/>
            <a:ext cx="1060704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asyncio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agents import Agent, Runner, function_tool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@____(needs_approval=____)              # ← qual decorator, e qual valor pra SEMPRE exigir aprovação?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cancelar_ocorrencia(id_ocorrencia: str) -&gt; str: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"""Cancela uma ocorrência registrada, pelo id."""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f"Ocorrência {id_ocorrencia} cancelada."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agente = Agent(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name="Agente de Registro",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instructions="Cancele a ocorrência pedida pelo usuário, usando a ferramenta.",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tools=[cancelar_ocorrencia],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main():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resultado = await Runner.run(agente, "Cancele a ocorrência 4821.")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resultado.____:                          # ← qual atributo do RunResult diz que há aprovação pendente?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 (continua no artifact interativo)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28 de 41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686800" y="65379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Engenharia de Agent Loops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 · AUTONOMIA E FREIO HUMANO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E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Desafio · aprovação condicional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10881360" cy="0"/>
          </a:xfrm>
          <a:prstGeom prst="line">
            <a:avLst/>
          </a:prstGeom>
          <a:noFill/>
          <a:ln w="19050">
            <a:solidFill>
              <a:srgbClr val="D4AF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37360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F5E3C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37360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DESAFIO BLOQUEADO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108813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Reaproveite o padrão do 5.1, mas com uma ferramenta </a:t>
            </a:r>
            <a:pPr indent="0" marL="0">
              <a:buNone/>
            </a:pPr>
            <a:r>
              <a:rPr lang="en-US" sz="1350" dirty="0">
                <a:solidFill>
                  <a:srgbClr val="D4A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enviar_notificacao(destinatario, mensagem)</a:t>
            </a:r>
            <a:pPr indent="0" marL="0">
              <a:buNone/>
            </a:pPr>
            <a:r>
              <a:rPr lang="en-US" sz="13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só exige aprovação quando a palavra "urgente" aparecer na mensagem (case-insensitive) — em vez de </a:t>
            </a:r>
            <a:pPr indent="0" marL="0">
              <a:buNone/>
            </a:pPr>
            <a:r>
              <a:rPr lang="en-US" sz="1350" dirty="0">
                <a:solidFill>
                  <a:srgbClr val="D4A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needs_approval=True</a:t>
            </a:r>
            <a:pPr indent="0" marL="0">
              <a:buNone/>
            </a:pPr>
            <a:r>
              <a:rPr lang="en-US" sz="13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passe uma função assíncrona que recebe os parâmetros da chamada e devolve um </a:t>
            </a:r>
            <a:pPr indent="0" marL="0">
              <a:buNone/>
            </a:pPr>
            <a:r>
              <a:rPr lang="en-US" sz="1350" dirty="0">
                <a:solidFill>
                  <a:srgbClr val="D4A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pPr indent="0" marL="0">
              <a:buNone/>
            </a:pPr>
            <a:r>
              <a:rPr lang="en-US" sz="13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Teste com uma mensagem comum (não deve pausar) e uma mensagem com "urgente" (deve pausar esperando aprovação).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5623560"/>
            <a:ext cx="10881360" cy="594360"/>
          </a:xfrm>
          <a:prstGeom prst="roundRect">
            <a:avLst>
              <a:gd name="adj" fmla="val 9231"/>
            </a:avLst>
          </a:prstGeom>
          <a:solidFill>
            <a:srgbClr val="EFEFF4"/>
          </a:solidFill>
          <a:ln w="12700">
            <a:solidFill>
              <a:srgbClr val="D3D3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62356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 está protegida por senha — revele no artifact interativo (link no topo da aula).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29 de 41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686800" y="65379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Engenharia de Agent Loops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AUTONOMIA GRADUADA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E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Três níveis, um só mecanismo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10881360" cy="0"/>
          </a:xfrm>
          <a:prstGeom prst="line">
            <a:avLst/>
          </a:prstGeom>
          <a:noFill/>
          <a:ln w="19050">
            <a:solidFill>
              <a:srgbClr val="D4AF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37360"/>
            <a:ext cx="108813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needs_approval — a ferramenta roda livre. Reservado pro que é seguro repetir e não tem efeito consequente (leituras, cálculos).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needs_approval=True — pausa SEMPRE, não importa o argumento. Reservado pra ação destrutiva ou irreversível (cancelar, apagar, notificar em massa).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needs_approval=&lt;função&gt; — pausa SÓ quando a própria chamada for sensível (5.2). É o meio-termo: autonomia normal, freio só quando o caso pede.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3063240"/>
            <a:ext cx="10881360" cy="822960"/>
          </a:xfrm>
          <a:prstGeom prst="roundRect">
            <a:avLst>
              <a:gd name="adj" fmla="val 6667"/>
            </a:avLst>
          </a:prstGeom>
          <a:solidFill>
            <a:srgbClr val="FFF6E5"/>
          </a:solidFill>
          <a:ln w="12700">
            <a:solidFill>
              <a:srgbClr val="D4AF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136392"/>
            <a:ext cx="105156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freio é decidido no MOMENTO em que a ferramenta é declarada — não depois, e não pelo modelo. O agente nunca escolhe se quer aprovação; ele só topa (ou não) com a pausa que você já configurou.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30 de 41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686800" y="65379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Engenharia de Agent Loops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 · AUTONOMIA E FREIO HUMANO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E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Desafio · aprovação "para o resto da execução" (always_approve)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10881360" cy="0"/>
          </a:xfrm>
          <a:prstGeom prst="line">
            <a:avLst/>
          </a:prstGeom>
          <a:noFill/>
          <a:ln w="19050">
            <a:solidFill>
              <a:srgbClr val="D4AF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37360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F5E3C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37360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DESAFIO BLOQUEADO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108813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Peça pro agente cancelar TRÊS ocorrências na mesma mensagem (ex.: "Cancele as ocorrências 4821, 4822 e 4823"), usando a ferramenta needs_approval=True do 5.1. Sem nada extra, isso pausa 3 vezes — uma por chamada. Altere o código pra que, na PRIMEIRA aprovação, você use estado.approve(pendencia, always_approve=True) — e confirme que as chamadas seguintes à mesma ferramenta, no resto dessa execução, passam direto, sem pausar de novo.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5623560"/>
            <a:ext cx="10881360" cy="594360"/>
          </a:xfrm>
          <a:prstGeom prst="roundRect">
            <a:avLst>
              <a:gd name="adj" fmla="val 9231"/>
            </a:avLst>
          </a:prstGeom>
          <a:solidFill>
            <a:srgbClr val="EFEFF4"/>
          </a:solidFill>
          <a:ln w="12700">
            <a:solidFill>
              <a:srgbClr val="D3D3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62356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 está protegida por senha — revele no artifact interativo (link no topo da aula).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31 de 41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686800" y="65379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Engenharia de Agent Loops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 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E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Observando o loop ao vivo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10881360" cy="0"/>
          </a:xfrm>
          <a:prstGeom prst="line">
            <a:avLst/>
          </a:prstGeom>
          <a:noFill/>
          <a:ln w="19050">
            <a:solidFill>
              <a:srgbClr val="D4AF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37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pela janela de vidro</a:t>
            </a:r>
            <a:pPr indent="0" marL="0">
              <a:buNone/>
            </a:pPr>
            <a:r>
              <a:rPr lang="en-US" sz="1500" i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em vez de esperar o relatório do funcionário no fim do expediente (hooks), você acompanha cada decisão e cada token da resposta acontecendo AO VIVO, enquanto o loop roda.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de atendimento ao vivo: o atendente vê "consultando sistema X..." e "resposta chegando..." na tela, em tempo real, não só o resultado final.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de chat responsivo: o usuário vê o texto sendo formado token a token — a mesma sensação de um chat que "está digitando".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Depuração ao vivo: ver exatamente qual ferramenta foi chamada e quando, sem esperar o RunResult inteiro terminar.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4251960"/>
            <a:ext cx="108813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3DCC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389120"/>
            <a:ext cx="10515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e hooks OBSERVAM o mesmo loop, de ângulos diferentes: hooks (Seção 1) são callbacks que você registra numa classe e o SDK chama sozinho, em pontos fixos do ciclo. Streaming é um iterador assíncrono de eventos (</a:t>
            </a:r>
            <a:pPr indent="0" marL="0">
              <a:buNone/>
            </a:pPr>
            <a:r>
              <a:rPr lang="en-US" sz="1250" dirty="0">
                <a:solidFill>
                  <a:srgbClr val="D4A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Runner.run_streamed</a:t>
            </a:r>
            <a:pPr indent="0" marL="0">
              <a:buNone/>
            </a:pPr>
            <a:r>
              <a:rPr lang="en-US" sz="12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pPr indent="0" marL="0">
              <a:buNone/>
            </a:pPr>
            <a:r>
              <a:rPr lang="en-US" sz="1250" dirty="0">
                <a:solidFill>
                  <a:srgbClr val="D4A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for event in stream.stream_events()</a:t>
            </a:r>
            <a:pPr indent="0" marL="0">
              <a:buNone/>
            </a:pPr>
            <a:r>
              <a:rPr lang="en-US" sz="12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que você mesmo consome, ideal pra empurrar pra uma UI em tempo real (ex.: um WebSocket). Três tipos de evento cobrem tudo: </a:t>
            </a:r>
            <a:pPr indent="0" marL="0">
              <a:buNone/>
            </a:pPr>
            <a:r>
              <a:rPr lang="en-US" sz="1250" dirty="0">
                <a:solidFill>
                  <a:srgbClr val="D4A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raw_response_event</a:t>
            </a:r>
            <a:pPr indent="0" marL="0">
              <a:buNone/>
            </a:pPr>
            <a:r>
              <a:rPr lang="en-US" sz="12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(tokens crus da resposta), </a:t>
            </a:r>
            <a:pPr indent="0" marL="0">
              <a:buNone/>
            </a:pPr>
            <a:r>
              <a:rPr lang="en-US" sz="1250" dirty="0">
                <a:solidFill>
                  <a:srgbClr val="D4A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run_item_stream_event</a:t>
            </a:r>
            <a:pPr indent="0" marL="0">
              <a:buNone/>
            </a:pPr>
            <a:r>
              <a:rPr lang="en-US" sz="12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pPr indent="0" marL="0">
              <a:buNone/>
            </a:pPr>
            <a:r>
              <a:rPr lang="en-US" sz="1250" dirty="0">
                <a:solidFill>
                  <a:srgbClr val="D4A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tool_called</a:t>
            </a:r>
            <a:pPr indent="0" marL="0">
              <a:buNone/>
            </a:pPr>
            <a:r>
              <a:rPr lang="en-US" sz="12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1250" dirty="0">
                <a:solidFill>
                  <a:srgbClr val="D4A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tool_output</a:t>
            </a:r>
            <a:pPr indent="0" marL="0">
              <a:buNone/>
            </a:pPr>
            <a:r>
              <a:rPr lang="en-US" sz="12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criação da mensagem final), e </a:t>
            </a:r>
            <a:pPr indent="0" marL="0">
              <a:buNone/>
            </a:pPr>
            <a:r>
              <a:rPr lang="en-US" sz="1250" dirty="0">
                <a:solidFill>
                  <a:srgbClr val="D4A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agent_updated_stream_event</a:t>
            </a:r>
            <a:pPr indent="0" marL="0">
              <a:buNone/>
            </a:pPr>
            <a:r>
              <a:rPr lang="en-US" sz="12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(troca de agente por handoff).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626364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Referência: SDK docs — Streaming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32 de 41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686800" y="65379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Engenharia de Agent Loops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 · OBSERVANDO O LOOP AO VIVO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E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Contando turnos e vendo tokens, ao mesmo tempo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10881360" cy="0"/>
          </a:xfrm>
          <a:prstGeom prst="line">
            <a:avLst/>
          </a:prstGeom>
          <a:noFill/>
          <a:ln w="19050">
            <a:solidFill>
              <a:srgbClr val="D4AF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373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único async for cobre as duas coisas: run_item_stream_event avisa cada ferramenta chamada/resultado (o mesmo que on_tool_start/on_tool_end faziam via hooks), e raw_response_event com ResponseTextDeltaEvent entrega os tokens da resposta final, um a um.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60604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E9EEF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60604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B4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ABERTO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40080" y="3017520"/>
            <a:ext cx="10881360" cy="3246120"/>
          </a:xfrm>
          <a:prstGeom prst="roundRect">
            <a:avLst>
              <a:gd name="adj" fmla="val 1690"/>
            </a:avLst>
          </a:prstGeom>
          <a:solidFill>
            <a:srgbClr val="0E1220"/>
          </a:solidFill>
          <a:ln w="12700">
            <a:solidFill>
              <a:srgbClr val="2A31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108960"/>
            <a:ext cx="1060704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asyncio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openai.types.responses import ResponseTextDeltaEvent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agents import Agent, Runner, function_tool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@function_tool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get_temperatura_simples(cidade: str) -&gt; str: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"""Retorna o clima atual de uma cidade."""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dados = {"São Paulo": "22°C, nublado", "Brasília": "28°C, sol"}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dados.get(cidade, "Cidade não encontrada.")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agente = Agent(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name="Assistente de Clima",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instructions="Use a ferramenta quando perguntarem sobre o tempo.",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tools=[get_temperatura_simples],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main():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stream = Runner.run_streamed(agente, "Como está o tempo em Brasília?")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 (continua no artifact interativo)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33 de 41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686800" y="65379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Engenharia de Agent Loops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 · OBSERVANDO O LOOP AO VIVO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E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Desafio · streaming + aprovação humana juntos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10881360" cy="0"/>
          </a:xfrm>
          <a:prstGeom prst="line">
            <a:avLst/>
          </a:prstGeom>
          <a:noFill/>
          <a:ln w="19050">
            <a:solidFill>
              <a:srgbClr val="D4AF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37360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F5E3C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37360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DESAFIO BLOQUEADO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108813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Reaproveite a ferramenta cancelar_ocorrencia (needs_approval=True) da Seção 5, mas rode com Runner.run_streamed em vez de Runner.run. Drene os eventos com stream_events() até o iterador esgotar, depois cheque resultado.interruptions (RunResultStreaming também expõe esse atributo), aprove/rejeite, e retome com Runner.run_streamed(agente, estado) — não Runner.run, senão a resposta deixa de ser streamada depois da aprovação.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5623560"/>
            <a:ext cx="10881360" cy="594360"/>
          </a:xfrm>
          <a:prstGeom prst="roundRect">
            <a:avLst>
              <a:gd name="adj" fmla="val 9231"/>
            </a:avLst>
          </a:prstGeom>
          <a:solidFill>
            <a:srgbClr val="EFEFF4"/>
          </a:solidFill>
          <a:ln w="12700">
            <a:solidFill>
              <a:srgbClr val="D3D3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62356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 está protegida por senha — revele no artifact interativo (link no topo da aula).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34 de 41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686800" y="65379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Engenharia de Agent Loops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VS STREAMING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E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Mesmo loop, dois jeitos de observar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10881360" cy="0"/>
          </a:xfrm>
          <a:prstGeom prst="line">
            <a:avLst/>
          </a:prstGeom>
          <a:noFill/>
          <a:ln w="19050">
            <a:solidFill>
              <a:srgbClr val="D4AF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37360"/>
            <a:ext cx="108813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— você define uma classe, o SDK chama os métodos sozinho. Bom pra logging, auditoria, métricas — coisas que rodam por fora, sem UI acoplada.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— você itera um async for, evento por evento. Bom quando tem alguém do outro lado esperando feedback em tempo real — um chat, um painel, uma barra de progresso.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dois juntos — nada impede de passar hooks= E consumir stream_events() na mesma chamada; cada um serve a um consumidor diferente da mesma execução.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3063240"/>
            <a:ext cx="10881360" cy="822960"/>
          </a:xfrm>
          <a:prstGeom prst="roundRect">
            <a:avLst>
              <a:gd name="adj" fmla="val 6667"/>
            </a:avLst>
          </a:prstGeom>
          <a:solidFill>
            <a:srgbClr val="FFF6E5"/>
          </a:solidFill>
          <a:ln w="12700">
            <a:solidFill>
              <a:srgbClr val="D4AF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136392"/>
            <a:ext cx="105156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+ human-in-the-loop (6.2) prova que os padrões das seções anteriores não são isolados — eles se combinam, porque todos observam ou controlam o MESMO loop por baixo dos panos.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35 de 41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686800" y="65379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Engenharia de Agent Loops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 · OBSERVANDO O LOOP AO VIVO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E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Desafio · triagem streamada — os três tipos de evento juntos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10881360" cy="0"/>
          </a:xfrm>
          <a:prstGeom prst="line">
            <a:avLst/>
          </a:prstGeom>
          <a:noFill/>
          <a:ln w="19050">
            <a:solidFill>
              <a:srgbClr val="D4AF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37360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F5E3C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37360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DESAFIO BLOQUEADO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108813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Construa um triador (handoffs=[...]) com dois especialistas — um de clima, com uma ferramenta, e um geral, sem ferramenta nenhuma (reaproveite o padrão da Seção 3 da Aula 1). Rode com Runner.run_streamed e trate, na MESMA execução, os três tipos de evento: agent_updated_stream_event (para saber quem assumiu depois do handoff), run_item_stream_event (para tool_called/tool_output do especialista de clima), e raw_response_event com ResponseTextDeltaEvent (para os tokens da resposta final). Teste com uma pergunta de clima e uma pergunta qualquer, e confirme ao final quem respondeu via stream.last_agent.name.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5623560"/>
            <a:ext cx="10881360" cy="594360"/>
          </a:xfrm>
          <a:prstGeom prst="roundRect">
            <a:avLst>
              <a:gd name="adj" fmla="val 9231"/>
            </a:avLst>
          </a:prstGeom>
          <a:solidFill>
            <a:srgbClr val="EFEFF4"/>
          </a:solidFill>
          <a:ln w="12700">
            <a:solidFill>
              <a:srgbClr val="D3D3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62356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 está protegida por senha — revele no artifact interativo (link no topo da aula).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36 de 41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686800" y="65379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Engenharia de Agent Loops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 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E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Loop com decisões encadeadas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10881360" cy="0"/>
          </a:xfrm>
          <a:prstGeom prst="line">
            <a:avLst/>
          </a:prstGeom>
          <a:noFill/>
          <a:ln w="19050">
            <a:solidFill>
              <a:srgbClr val="D4AF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37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investigador que não segue um roteiro fixo</a:t>
            </a:r>
            <a:pPr indent="0" marL="0">
              <a:buNone/>
            </a:pPr>
            <a:r>
              <a:rPr lang="en-US" sz="1500" i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decide, caso a caso, qual sistema consultar primeiro conforme o que já sabe, e para assim que julga ter o suficiente. Nenhum fluxograma escrito à mão decide por ele.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Apoio à investigação: dado um nome, CNPJ ou endereço, o agente decide sozinho se consulta cadastro, endereço ou telefonia primeiro — a ordem muda conforme o caso, não é fixa no código.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Atendimento com dados fragmentados: o cidadão fornece informação aos poucos; o agente decide quando já tem o suficiente pra prosseguir (liga com a Seção 3 — sucesso declarado).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Reunir e agir: depois de reunir os dados certos, o agente registra ou notifica — e essa etapa final de escrita pede aprovação humana (liga com a Seção 5).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4251960"/>
            <a:ext cx="108813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3DCC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389120"/>
            <a:ext cx="10515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seção não traz nenhum mecanismo novo do SDK — é a SÍNTESE de tudo que já foi visto: várias tools reais (Aula 1), o modelo decidindo a ordem turno a turno sem if/else de roteamento, contagem de turno via hooks (Seção 1), e uma etapa final de escrita protegida por needs_approval (Seção 5). O ponto pedagógico é ver os padrões se somando num cenário fiel ao trabalho real da PCDF.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626364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Referência: SDK docs — Tools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37 de 41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686800" y="65379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Engenharia de Agent Loops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 · LOOP COM DECISÕES ENCADEADAS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E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Duas fontes reais, uma decisão do modelo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10881360" cy="0"/>
          </a:xfrm>
          <a:prstGeom prst="line">
            <a:avLst/>
          </a:prstGeom>
          <a:noFill/>
          <a:ln w="19050">
            <a:solidFill>
              <a:srgbClr val="D4AF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373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consultar_cnpj e consultar_ddd são duas ferramentas independentes, sem nenhuma relação escrita no código. Quem decide chamar uma, a outra, ou as duas — e em que ordem — é só o modelo, lendo o pedido.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60604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E9EEF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60604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B4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ABERTO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40080" y="3017520"/>
            <a:ext cx="10881360" cy="3246120"/>
          </a:xfrm>
          <a:prstGeom prst="roundRect">
            <a:avLst>
              <a:gd name="adj" fmla="val 1690"/>
            </a:avLst>
          </a:prstGeom>
          <a:solidFill>
            <a:srgbClr val="0E1220"/>
          </a:solidFill>
          <a:ln w="12700">
            <a:solidFill>
              <a:srgbClr val="2A31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108960"/>
            <a:ext cx="1060704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requests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agents import Agent, Runner, RunHooks, function_tool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@function_tool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consultar_cnpj(cnpj: str) -&gt; str: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"""Consulta dados cadastrais de uma empresa pelo CNPJ (BrasilAPI)."""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 = requests.get(f"https://brasilapi.com.br/api/cnpj/v1/{cnpj}", timeout=5)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resp.raise_for_status()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dados = resp.json()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f"{dados['razao_social']} — {dados['descricao_situacao_cadastral']}, {dados['municipio']}/{dados['uf']}"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@function_tool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consultar_ddd(ddd: str) -&gt; str: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"""Consulta estado e municípios cobertos por um DDD (BrasilAPI)."""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 = requests.get(f"https://brasilapi.com.br/api/ddd/v1/{ddd}", timeout=5)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resp.raise_for_status()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dados = resp.json()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f"DDD {ddd}: {dados['state']}, municípios: {', '.join(dados['cities'][:5])}..."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D8D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 (continua no artifact interativo)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38 de 41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686800" y="65379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Engenharia de Agent Loops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 · LOOP COM DECISÕES ENCADEADAS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E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Desafio · apoio completo — investigar e só então registrar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10881360" cy="0"/>
          </a:xfrm>
          <a:prstGeom prst="line">
            <a:avLst/>
          </a:prstGeom>
          <a:noFill/>
          <a:ln w="19050">
            <a:solidFill>
              <a:srgbClr val="D4AF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37360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F5E3C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37360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DESAFIO BLOQUEADO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108813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um agente com três ferramentas: consultar_cnpj, consultar_endereco (Nominatim — lembre do header User-Agent obrigatório, visto na Aula 1) e registrar_ocorrencia (marcada com needs_approval=True). O agente deve decidir sozinho, sem if/else, quais consultas fazer — e só chamar registrar_ocorrencia depois de reunir o que for necessário. Peça pra consultar um CNPJ e um endereço, e registrar uma ocorrência resumindo o que foi encontrado; use o mesmo laço de aprovação da Seção 5 pra tratar a pausa na etapa de escrita.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5623560"/>
            <a:ext cx="10881360" cy="594360"/>
          </a:xfrm>
          <a:prstGeom prst="roundRect">
            <a:avLst>
              <a:gd name="adj" fmla="val 9231"/>
            </a:avLst>
          </a:prstGeom>
          <a:solidFill>
            <a:srgbClr val="EFEFF4"/>
          </a:solidFill>
          <a:ln w="12700">
            <a:solidFill>
              <a:srgbClr val="D3D3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62356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 está protegida por senha — revele no artifact interativo (link no topo da aula).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39 de 41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686800" y="65379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Engenharia de Agent Loops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ESTAVA EMBUTIDO NESTA SEÇÃO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E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Cada peça já vista, agora somada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10881360" cy="0"/>
          </a:xfrm>
          <a:prstGeom prst="line">
            <a:avLst/>
          </a:prstGeom>
          <a:noFill/>
          <a:ln w="19050">
            <a:solidFill>
              <a:srgbClr val="D4AF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37360"/>
            <a:ext cx="108813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Várias tools independentes (introduzidas na Aula 1) — o modelo decide sozinho quais usar.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Contagem de turno via hooks (Seção 1) — pra ver a ordem das decisões acontecendo.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Escrita protegida por aprovação (Seção 5) — registrar só acontece depois de um humano confirmar.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if/else de roteamento em lugar nenhum — a "lógica de negócio" inteira mora nas instructions e na decisão turno a turno do modelo.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3383280"/>
            <a:ext cx="10881360" cy="822960"/>
          </a:xfrm>
          <a:prstGeom prst="roundRect">
            <a:avLst>
              <a:gd name="adj" fmla="val 6667"/>
            </a:avLst>
          </a:prstGeom>
          <a:solidFill>
            <a:srgbClr val="FFF6E5"/>
          </a:solidFill>
          <a:ln w="12700">
            <a:solidFill>
              <a:srgbClr val="D4AF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456432"/>
            <a:ext cx="105156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você sentiu que essa seção não trouxe nada tecnicamente novo, é porque não trouxe de propósito — o objetivo era ver as seções anteriores se somando num cenário fiel ao trabalho real da PCDF, não aprender mais um mecanismo do SDK.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40 de 41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686800" y="65379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Engenharia de Agent Loops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7.3 · LOOP COM DECISÕES ENCADEADAS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E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Desafio · CNPJ resiliente dentro do loop encadeado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10881360" cy="0"/>
          </a:xfrm>
          <a:prstGeom prst="line">
            <a:avLst/>
          </a:prstGeom>
          <a:noFill/>
          <a:ln w="19050">
            <a:solidFill>
              <a:srgbClr val="D4AF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37360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F5E3C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37360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DESAFIO BLOQUEADO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108813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consulta ao CNPJ do 7.1/7.2 pode devolver 429 (rate limit) — a BrasilAPI é gratuita e tem limite de requisições. Reescreva consultar_cnpj como consultar_cnpj_resiliente, tratando especificamente o status 429 com retry e backoff exponencial (mesmo padrão da 4.1) — sem misturar isso com outros erros HTTP, que devem continuar propagando direto, sem retry. Rode de novo o cenário completo do 7.2 (CNPJ + endereço + registro) e confirme que, mesmo com rate limit temporário, o agente consegue reunir os dois dados antes de pedir aprovação pra registrar a ocorrência.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5623560"/>
            <a:ext cx="10881360" cy="594360"/>
          </a:xfrm>
          <a:prstGeom prst="roundRect">
            <a:avLst>
              <a:gd name="adj" fmla="val 9231"/>
            </a:avLst>
          </a:prstGeom>
          <a:solidFill>
            <a:srgbClr val="EFEFF4"/>
          </a:solidFill>
          <a:ln w="12700">
            <a:solidFill>
              <a:srgbClr val="D3D3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62356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 está protegida por senha — revele no artifact interativo (link no topo da aula).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41 de 41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686800" y="65379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Engenharia de Agent Loops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2026-09-17T14:54:39Z</dcterms:created>
  <dcterms:modified xsi:type="dcterms:W3CDTF">2026-09-17T14:54:39Z</dcterms:modified>
</cp:coreProperties>
</file>